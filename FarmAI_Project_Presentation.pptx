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1097280"/>
            <a:ext cx="2011680" cy="320040"/>
          </a:xfrm>
          <a:prstGeom prst="rect">
            <a:avLst>
              <a:gd name="adj" fmla="val 14286"/>
            </a:avLst>
          </a:prstGeom>
          <a:solidFill>
            <a:srgbClr val="10B981"/>
          </a:solidFill>
          <a:ln/>
        </p:spPr>
      </p:sp>
      <p:sp>
        <p:nvSpPr>
          <p:cNvPr id="3" name="Text 1"/>
          <p:cNvSpPr/>
          <p:nvPr/>
        </p:nvSpPr>
        <p:spPr>
          <a:xfrm>
            <a:off x="731520" y="1097280"/>
            <a:ext cx="2011680" cy="320040"/>
          </a:xfrm>
          <a:prstGeom prst="rect">
            <a:avLst/>
          </a:prstGeom>
          <a:noFill/>
          <a:ln/>
        </p:spPr>
        <p:txBody>
          <a:bodyPr wrap="square" rtlCol="0" anchor="ctr"/>
          <a:lstStyle/>
          <a:p>
            <a:pPr algn="ctr" indent="0" marL="0">
              <a:buNone/>
            </a:pPr>
            <a:r>
              <a:rPr lang="en-US" sz="1100" b="1" dirty="0">
                <a:solidFill>
                  <a:srgbClr val="0A1128"/>
                </a:solidFill>
                <a:latin typeface="Arial" pitchFamily="34" charset="0"/>
                <a:ea typeface="Arial" pitchFamily="34" charset="-122"/>
                <a:cs typeface="Arial" pitchFamily="34" charset="-120"/>
              </a:rPr>
              <a:t>TASK 2 • GEOLAND AI</a:t>
            </a:r>
            <a:endParaRPr lang="en-US" sz="1100" dirty="0"/>
          </a:p>
        </p:txBody>
      </p:sp>
      <p:sp>
        <p:nvSpPr>
          <p:cNvPr id="4" name="Text 2"/>
          <p:cNvSpPr/>
          <p:nvPr/>
        </p:nvSpPr>
        <p:spPr>
          <a:xfrm>
            <a:off x="731520" y="1554480"/>
            <a:ext cx="10515600" cy="914400"/>
          </a:xfrm>
          <a:prstGeom prst="rect">
            <a:avLst/>
          </a:prstGeom>
          <a:noFill/>
          <a:ln/>
        </p:spPr>
        <p:txBody>
          <a:bodyPr wrap="square" rtlCol="0" anchor="ctr"/>
          <a:lstStyle/>
          <a:p>
            <a:pPr indent="0" marL="0">
              <a:buNone/>
            </a:pPr>
            <a:r>
              <a:rPr lang="en-US" sz="3800" b="1" dirty="0">
                <a:solidFill>
                  <a:srgbClr val="F8FAFC"/>
                </a:solidFill>
                <a:latin typeface="Arial" pitchFamily="34" charset="0"/>
                <a:ea typeface="Arial" pitchFamily="34" charset="-122"/>
                <a:cs typeface="Arial" pitchFamily="34" charset="-120"/>
              </a:rPr>
              <a:t>FarmAI – GeoLand Intelligence</a:t>
            </a:r>
            <a:endParaRPr lang="en-US" sz="3800" dirty="0"/>
          </a:p>
        </p:txBody>
      </p:sp>
      <p:sp>
        <p:nvSpPr>
          <p:cNvPr id="5" name="Text 3"/>
          <p:cNvSpPr/>
          <p:nvPr/>
        </p:nvSpPr>
        <p:spPr>
          <a:xfrm>
            <a:off x="731520" y="2468880"/>
            <a:ext cx="10515600" cy="457200"/>
          </a:xfrm>
          <a:prstGeom prst="rect">
            <a:avLst/>
          </a:prstGeom>
          <a:noFill/>
          <a:ln/>
        </p:spPr>
        <p:txBody>
          <a:bodyPr wrap="square" rtlCol="0" anchor="ctr"/>
          <a:lstStyle/>
          <a:p>
            <a:pPr indent="0" marL="0">
              <a:buNone/>
            </a:pPr>
            <a:r>
              <a:rPr lang="en-US" sz="1800" b="1" dirty="0">
                <a:solidFill>
                  <a:srgbClr val="0EA5E9"/>
                </a:solidFill>
                <a:latin typeface="Arial" pitchFamily="34" charset="0"/>
                <a:ea typeface="Arial" pitchFamily="34" charset="-122"/>
                <a:cs typeface="Arial" pitchFamily="34" charset="-120"/>
              </a:rPr>
              <a:t>Autonomous Multimodal GeoAI &amp; Land Document Due Diligence Platform</a:t>
            </a:r>
            <a:endParaRPr lang="en-US" sz="1800" dirty="0"/>
          </a:p>
        </p:txBody>
      </p:sp>
      <p:sp>
        <p:nvSpPr>
          <p:cNvPr id="6" name="Text 4"/>
          <p:cNvSpPr/>
          <p:nvPr/>
        </p:nvSpPr>
        <p:spPr>
          <a:xfrm>
            <a:off x="731520" y="3017520"/>
            <a:ext cx="8686800" cy="73152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Instant bilingual OCR, FMB ladder vectorization, cadastral GIS cross-reconciliation, statutory buffer auditing, and tamper-evident Title Integrity Risk Scoring (0–100).</a:t>
            </a:r>
            <a:endParaRPr lang="en-US" sz="1300" dirty="0"/>
          </a:p>
        </p:txBody>
      </p:sp>
      <p:sp>
        <p:nvSpPr>
          <p:cNvPr id="7" name="Shape 5"/>
          <p:cNvSpPr/>
          <p:nvPr/>
        </p:nvSpPr>
        <p:spPr>
          <a:xfrm>
            <a:off x="731520" y="4023360"/>
            <a:ext cx="2011680" cy="548640"/>
          </a:xfrm>
          <a:prstGeom prst="roundRect">
            <a:avLst>
              <a:gd name="adj" fmla="val 13333"/>
            </a:avLst>
          </a:prstGeom>
          <a:solidFill>
            <a:srgbClr val="1C2541"/>
          </a:solidFill>
          <a:ln w="19050">
            <a:solidFill>
              <a:srgbClr val="10B981"/>
            </a:solidFill>
            <a:prstDash val="solid"/>
          </a:ln>
        </p:spPr>
      </p:sp>
      <p:sp>
        <p:nvSpPr>
          <p:cNvPr id="8" name="Text 6"/>
          <p:cNvSpPr/>
          <p:nvPr/>
        </p:nvSpPr>
        <p:spPr>
          <a:xfrm>
            <a:off x="731520" y="4023360"/>
            <a:ext cx="2011680" cy="548640"/>
          </a:xfrm>
          <a:prstGeom prst="rect">
            <a:avLst/>
          </a:prstGeom>
          <a:noFill/>
          <a:ln/>
        </p:spPr>
        <p:txBody>
          <a:bodyPr wrap="square" rtlCol="0" anchor="ctr"/>
          <a:lstStyle/>
          <a:p>
            <a:pPr algn="ctr" indent="0" marL="0">
              <a:buNone/>
            </a:pPr>
            <a:r>
              <a:rPr lang="en-US" sz="1000" b="1" dirty="0">
                <a:solidFill>
                  <a:srgbClr val="F8FAFC"/>
                </a:solidFill>
                <a:latin typeface="Arial" pitchFamily="34" charset="0"/>
                <a:ea typeface="Arial" pitchFamily="34" charset="-122"/>
                <a:cs typeface="Arial" pitchFamily="34" charset="-120"/>
              </a:rPr>
              <a:t>Bilingual OCR (Tamil/Eng)</a:t>
            </a:r>
            <a:endParaRPr lang="en-US" sz="1000" dirty="0"/>
          </a:p>
        </p:txBody>
      </p:sp>
      <p:sp>
        <p:nvSpPr>
          <p:cNvPr id="9" name="Shape 7"/>
          <p:cNvSpPr/>
          <p:nvPr/>
        </p:nvSpPr>
        <p:spPr>
          <a:xfrm>
            <a:off x="2880360" y="4023360"/>
            <a:ext cx="2011680" cy="548640"/>
          </a:xfrm>
          <a:prstGeom prst="roundRect">
            <a:avLst>
              <a:gd name="adj" fmla="val 13333"/>
            </a:avLst>
          </a:prstGeom>
          <a:solidFill>
            <a:srgbClr val="1C2541"/>
          </a:solidFill>
          <a:ln w="19050">
            <a:solidFill>
              <a:srgbClr val="0EA5E9"/>
            </a:solidFill>
            <a:prstDash val="solid"/>
          </a:ln>
        </p:spPr>
      </p:sp>
      <p:sp>
        <p:nvSpPr>
          <p:cNvPr id="10" name="Text 8"/>
          <p:cNvSpPr/>
          <p:nvPr/>
        </p:nvSpPr>
        <p:spPr>
          <a:xfrm>
            <a:off x="2880360" y="4023360"/>
            <a:ext cx="2011680" cy="548640"/>
          </a:xfrm>
          <a:prstGeom prst="rect">
            <a:avLst/>
          </a:prstGeom>
          <a:noFill/>
          <a:ln/>
        </p:spPr>
        <p:txBody>
          <a:bodyPr wrap="square" rtlCol="0" anchor="ctr"/>
          <a:lstStyle/>
          <a:p>
            <a:pPr algn="ctr" indent="0" marL="0">
              <a:buNone/>
            </a:pPr>
            <a:r>
              <a:rPr lang="en-US" sz="1000" b="1" dirty="0">
                <a:solidFill>
                  <a:srgbClr val="F8FAFC"/>
                </a:solidFill>
                <a:latin typeface="Arial" pitchFamily="34" charset="0"/>
                <a:ea typeface="Arial" pitchFamily="34" charset="-122"/>
                <a:cs typeface="Arial" pitchFamily="34" charset="-120"/>
              </a:rPr>
              <a:t>FMB Ladder Vectorizer</a:t>
            </a:r>
            <a:endParaRPr lang="en-US" sz="1000" dirty="0"/>
          </a:p>
        </p:txBody>
      </p:sp>
      <p:sp>
        <p:nvSpPr>
          <p:cNvPr id="11" name="Shape 9"/>
          <p:cNvSpPr/>
          <p:nvPr/>
        </p:nvSpPr>
        <p:spPr>
          <a:xfrm>
            <a:off x="5029200" y="4023360"/>
            <a:ext cx="2011680" cy="548640"/>
          </a:xfrm>
          <a:prstGeom prst="roundRect">
            <a:avLst>
              <a:gd name="adj" fmla="val 13333"/>
            </a:avLst>
          </a:prstGeom>
          <a:solidFill>
            <a:srgbClr val="1C2541"/>
          </a:solidFill>
          <a:ln w="19050">
            <a:solidFill>
              <a:srgbClr val="F59E0B"/>
            </a:solidFill>
            <a:prstDash val="solid"/>
          </a:ln>
        </p:spPr>
      </p:sp>
      <p:sp>
        <p:nvSpPr>
          <p:cNvPr id="12" name="Text 10"/>
          <p:cNvSpPr/>
          <p:nvPr/>
        </p:nvSpPr>
        <p:spPr>
          <a:xfrm>
            <a:off x="5029200" y="4023360"/>
            <a:ext cx="2011680" cy="548640"/>
          </a:xfrm>
          <a:prstGeom prst="rect">
            <a:avLst/>
          </a:prstGeom>
          <a:noFill/>
          <a:ln/>
        </p:spPr>
        <p:txBody>
          <a:bodyPr wrap="square" rtlCol="0" anchor="ctr"/>
          <a:lstStyle/>
          <a:p>
            <a:pPr algn="ctr" indent="0" marL="0">
              <a:buNone/>
            </a:pPr>
            <a:r>
              <a:rPr lang="en-US" sz="1000" b="1" dirty="0">
                <a:solidFill>
                  <a:srgbClr val="F8FAFC"/>
                </a:solidFill>
                <a:latin typeface="Arial" pitchFamily="34" charset="0"/>
                <a:ea typeface="Arial" pitchFamily="34" charset="-122"/>
                <a:cs typeface="Arial" pitchFamily="34" charset="-120"/>
              </a:rPr>
              <a:t>3-Way Spatial Reconciliation</a:t>
            </a:r>
            <a:endParaRPr lang="en-US" sz="1000" dirty="0"/>
          </a:p>
        </p:txBody>
      </p:sp>
      <p:sp>
        <p:nvSpPr>
          <p:cNvPr id="13" name="Shape 11"/>
          <p:cNvSpPr/>
          <p:nvPr/>
        </p:nvSpPr>
        <p:spPr>
          <a:xfrm>
            <a:off x="7178040" y="4023360"/>
            <a:ext cx="2011680" cy="548640"/>
          </a:xfrm>
          <a:prstGeom prst="roundRect">
            <a:avLst>
              <a:gd name="adj" fmla="val 13333"/>
            </a:avLst>
          </a:prstGeom>
          <a:solidFill>
            <a:srgbClr val="1C2541"/>
          </a:solidFill>
          <a:ln w="19050">
            <a:solidFill>
              <a:srgbClr val="EF4444"/>
            </a:solidFill>
            <a:prstDash val="solid"/>
          </a:ln>
        </p:spPr>
      </p:sp>
      <p:sp>
        <p:nvSpPr>
          <p:cNvPr id="14" name="Text 12"/>
          <p:cNvSpPr/>
          <p:nvPr/>
        </p:nvSpPr>
        <p:spPr>
          <a:xfrm>
            <a:off x="7178040" y="4023360"/>
            <a:ext cx="2011680" cy="548640"/>
          </a:xfrm>
          <a:prstGeom prst="rect">
            <a:avLst/>
          </a:prstGeom>
          <a:noFill/>
          <a:ln/>
        </p:spPr>
        <p:txBody>
          <a:bodyPr wrap="square" rtlCol="0" anchor="ctr"/>
          <a:lstStyle/>
          <a:p>
            <a:pPr algn="ctr" indent="0" marL="0">
              <a:buNone/>
            </a:pPr>
            <a:r>
              <a:rPr lang="en-US" sz="1000" b="1" dirty="0">
                <a:solidFill>
                  <a:srgbClr val="F8FAFC"/>
                </a:solidFill>
                <a:latin typeface="Arial" pitchFamily="34" charset="0"/>
                <a:ea typeface="Arial" pitchFamily="34" charset="-122"/>
                <a:cs typeface="Arial" pitchFamily="34" charset="-120"/>
              </a:rPr>
              <a:t>30m Waterbody Buffer Check</a:t>
            </a:r>
            <a:endParaRPr lang="en-US" sz="1000" dirty="0"/>
          </a:p>
        </p:txBody>
      </p:sp>
      <p:sp>
        <p:nvSpPr>
          <p:cNvPr id="15" name="Shape 13"/>
          <p:cNvSpPr/>
          <p:nvPr/>
        </p:nvSpPr>
        <p:spPr>
          <a:xfrm>
            <a:off x="9326880" y="4023360"/>
            <a:ext cx="2011680" cy="548640"/>
          </a:xfrm>
          <a:prstGeom prst="roundRect">
            <a:avLst>
              <a:gd name="adj" fmla="val 13333"/>
            </a:avLst>
          </a:prstGeom>
          <a:solidFill>
            <a:srgbClr val="1C2541"/>
          </a:solidFill>
          <a:ln w="19050">
            <a:solidFill>
              <a:srgbClr val="0EA5E9"/>
            </a:solidFill>
            <a:prstDash val="solid"/>
          </a:ln>
        </p:spPr>
      </p:sp>
      <p:sp>
        <p:nvSpPr>
          <p:cNvPr id="16" name="Text 14"/>
          <p:cNvSpPr/>
          <p:nvPr/>
        </p:nvSpPr>
        <p:spPr>
          <a:xfrm>
            <a:off x="9326880" y="4023360"/>
            <a:ext cx="2011680" cy="548640"/>
          </a:xfrm>
          <a:prstGeom prst="rect">
            <a:avLst/>
          </a:prstGeom>
          <a:noFill/>
          <a:ln/>
        </p:spPr>
        <p:txBody>
          <a:bodyPr wrap="square" rtlCol="0" anchor="ctr"/>
          <a:lstStyle/>
          <a:p>
            <a:pPr algn="ctr" indent="0" marL="0">
              <a:buNone/>
            </a:pPr>
            <a:r>
              <a:rPr lang="en-US" sz="1000" b="1" dirty="0">
                <a:solidFill>
                  <a:srgbClr val="F8FAFC"/>
                </a:solidFill>
                <a:latin typeface="Arial" pitchFamily="34" charset="0"/>
                <a:ea typeface="Arial" pitchFamily="34" charset="-122"/>
                <a:cs typeface="Arial" pitchFamily="34" charset="-120"/>
              </a:rPr>
              <a:t>AWS Cloud Integrated</a:t>
            </a:r>
            <a:endParaRPr lang="en-US" sz="1000" dirty="0"/>
          </a:p>
        </p:txBody>
      </p:sp>
      <p:sp>
        <p:nvSpPr>
          <p:cNvPr id="17" name="Shape 15"/>
          <p:cNvSpPr/>
          <p:nvPr/>
        </p:nvSpPr>
        <p:spPr>
          <a:xfrm>
            <a:off x="731520" y="4937760"/>
            <a:ext cx="10698480" cy="1280160"/>
          </a:xfrm>
          <a:prstGeom prst="rect">
            <a:avLst>
              <a:gd name="adj" fmla="val 3571"/>
            </a:avLst>
          </a:prstGeom>
          <a:solidFill>
            <a:srgbClr val="1C2541"/>
          </a:solidFill>
          <a:ln w="12700">
            <a:solidFill>
              <a:srgbClr val="3A506B"/>
            </a:solidFill>
            <a:prstDash val="solid"/>
          </a:ln>
        </p:spPr>
      </p:sp>
      <p:sp>
        <p:nvSpPr>
          <p:cNvPr id="18" name="Text 16"/>
          <p:cNvSpPr/>
          <p:nvPr/>
        </p:nvSpPr>
        <p:spPr>
          <a:xfrm>
            <a:off x="1005840" y="5074920"/>
            <a:ext cx="10058400" cy="1005840"/>
          </a:xfrm>
          <a:prstGeom prst="rect">
            <a:avLst/>
          </a:prstGeom>
          <a:noFill/>
          <a:ln/>
        </p:spPr>
        <p:txBody>
          <a:bodyPr wrap="square" rtlCol="0" anchor="ctr"/>
          <a:lstStyle/>
          <a:p>
            <a:pPr indent="0" marL="0">
              <a:buNone/>
            </a:pPr>
            <a:r>
              <a:rPr lang="en-US" sz="1100" b="1" dirty="0">
                <a:solidFill>
                  <a:srgbClr val="0EA5E9"/>
                </a:solidFill>
                <a:latin typeface="Arial" pitchFamily="34" charset="0"/>
                <a:ea typeface="Arial" pitchFamily="34" charset="-122"/>
                <a:cs typeface="Arial" pitchFamily="34" charset="-120"/>
              </a:rPr>
              <a:t>Presented by: </a:t>
            </a:r>
            <a:pPr indent="0" marL="0">
              <a:buNone/>
            </a:pPr>
            <a:r>
              <a:rPr lang="en-US" sz="1100" dirty="0">
                <a:solidFill>
                  <a:srgbClr val="F8FAFC"/>
                </a:solidFill>
                <a:latin typeface="Arial" pitchFamily="34" charset="0"/>
                <a:ea typeface="Arial" pitchFamily="34" charset="-122"/>
                <a:cs typeface="Arial" pitchFamily="34" charset="-120"/>
              </a:rPr>
              <a:t>Team 63 (FAI-TCE-Team-63) | FarmAI Research &amp; Engineering Team
</a:t>
            </a:r>
            <a:pPr indent="0" marL="0">
              <a:buNone/>
            </a:pPr>
            <a:r>
              <a:rPr lang="en-US" sz="1100" b="1" dirty="0">
                <a:solidFill>
                  <a:srgbClr val="10B981"/>
                </a:solidFill>
                <a:latin typeface="Arial" pitchFamily="34" charset="0"/>
                <a:ea typeface="Arial" pitchFamily="34" charset="-122"/>
                <a:cs typeface="Arial" pitchFamily="34" charset="-120"/>
              </a:rPr>
              <a:t>Core Stack: </a:t>
            </a:r>
            <a:pPr indent="0" marL="0">
              <a:buNone/>
            </a:pPr>
            <a:r>
              <a:rPr lang="en-US" sz="1100" dirty="0">
                <a:solidFill>
                  <a:srgbClr val="94A3B8"/>
                </a:solidFill>
                <a:latin typeface="Arial" pitchFamily="34" charset="0"/>
                <a:ea typeface="Arial" pitchFamily="34" charset="-122"/>
                <a:cs typeface="Arial" pitchFamily="34" charset="-120"/>
              </a:rPr>
              <a:t>FastAPI, Shapely, Leaflet, React 18, Vite, Amazon Textract, S3, DynamoDB
</a:t>
            </a:r>
            <a:pPr indent="0" marL="0">
              <a:buNone/>
            </a:pPr>
            <a:r>
              <a:rPr lang="en-US" sz="1100" b="1" dirty="0">
                <a:solidFill>
                  <a:srgbClr val="0EA5E9"/>
                </a:solidFill>
                <a:latin typeface="Arial" pitchFamily="34" charset="0"/>
                <a:ea typeface="Arial" pitchFamily="34" charset="-122"/>
                <a:cs typeface="Arial" pitchFamily="34" charset="-120"/>
              </a:rPr>
              <a:t>Repository: </a:t>
            </a:r>
            <a:pPr indent="0" marL="0">
              <a:buNone/>
            </a:pPr>
            <a:r>
              <a:rPr lang="en-US" sz="1100" dirty="0">
                <a:solidFill>
                  <a:srgbClr val="94A3B8"/>
                </a:solidFill>
                <a:latin typeface="Arial" pitchFamily="34" charset="0"/>
                <a:ea typeface="Arial" pitchFamily="34" charset="-122"/>
                <a:cs typeface="Arial" pitchFamily="34" charset="-120"/>
              </a:rPr>
              <a:t>https://github.com/krishnakanthm2805/farmai_project.git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EXECUTIVE CHALLENGE</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The Problem: Manual Land Due Diligence is Broken</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sp>
        <p:nvSpPr>
          <p:cNvPr id="7" name="Shape 5"/>
          <p:cNvSpPr/>
          <p:nvPr/>
        </p:nvSpPr>
        <p:spPr>
          <a:xfrm>
            <a:off x="731520" y="1371600"/>
            <a:ext cx="3383280" cy="3657600"/>
          </a:xfrm>
          <a:prstGeom prst="rect">
            <a:avLst>
              <a:gd name="adj" fmla="val 2162"/>
            </a:avLst>
          </a:prstGeom>
          <a:solidFill>
            <a:srgbClr val="1C2541"/>
          </a:solidFill>
          <a:ln w="25400">
            <a:solidFill>
              <a:srgbClr val="0EA5E9"/>
            </a:solidFill>
            <a:prstDash val="solid"/>
          </a:ln>
        </p:spPr>
      </p:sp>
      <p:sp>
        <p:nvSpPr>
          <p:cNvPr id="8" name="Text 6"/>
          <p:cNvSpPr/>
          <p:nvPr/>
        </p:nvSpPr>
        <p:spPr>
          <a:xfrm>
            <a:off x="914400" y="1554480"/>
            <a:ext cx="3017520" cy="548640"/>
          </a:xfrm>
          <a:prstGeom prst="rect">
            <a:avLst/>
          </a:prstGeom>
          <a:noFill/>
          <a:ln/>
        </p:spPr>
        <p:txBody>
          <a:bodyPr wrap="square" rtlCol="0" anchor="ctr"/>
          <a:lstStyle/>
          <a:p>
            <a:pPr indent="0" marL="0">
              <a:buNone/>
            </a:pPr>
            <a:r>
              <a:rPr lang="en-US" sz="1500" b="1" dirty="0">
                <a:solidFill>
                  <a:srgbClr val="0EA5E9"/>
                </a:solidFill>
                <a:latin typeface="Arial" pitchFamily="34" charset="0"/>
                <a:ea typeface="Arial" pitchFamily="34" charset="-122"/>
                <a:cs typeface="Arial" pitchFamily="34" charset="-120"/>
              </a:rPr>
              <a:t>1. Heterogeneous Data Silos</a:t>
            </a:r>
            <a:endParaRPr lang="en-US" sz="1500" dirty="0"/>
          </a:p>
        </p:txBody>
      </p:sp>
      <p:sp>
        <p:nvSpPr>
          <p:cNvPr id="9" name="Text 7"/>
          <p:cNvSpPr/>
          <p:nvPr/>
        </p:nvSpPr>
        <p:spPr>
          <a:xfrm>
            <a:off x="914400" y="2194560"/>
            <a:ext cx="3017520" cy="256032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Title documents are manual, hand-scanned e-Pattas (Form 10), Chitta, and Sale Deeds in Tamil and English.</a:t>
            </a:r>
            <a:endParaRPr lang="en-US" sz="1200" dirty="0"/>
          </a:p>
          <a:p>
            <a:pPr indent="0" marL="0">
              <a:buNone/>
            </a:pP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They exist completely isolated from government GIS Cadastral shapefiles and legacy surveyor sketches.</a:t>
            </a:r>
            <a:endParaRPr lang="en-US" sz="1200" dirty="0"/>
          </a:p>
        </p:txBody>
      </p:sp>
      <p:sp>
        <p:nvSpPr>
          <p:cNvPr id="10" name="Shape 8"/>
          <p:cNvSpPr/>
          <p:nvPr/>
        </p:nvSpPr>
        <p:spPr>
          <a:xfrm>
            <a:off x="4389120" y="1371600"/>
            <a:ext cx="3383280" cy="3657600"/>
          </a:xfrm>
          <a:prstGeom prst="rect">
            <a:avLst>
              <a:gd name="adj" fmla="val 2162"/>
            </a:avLst>
          </a:prstGeom>
          <a:solidFill>
            <a:srgbClr val="1C2541"/>
          </a:solidFill>
          <a:ln w="25400">
            <a:solidFill>
              <a:srgbClr val="F59E0B"/>
            </a:solidFill>
            <a:prstDash val="solid"/>
          </a:ln>
        </p:spPr>
      </p:sp>
      <p:sp>
        <p:nvSpPr>
          <p:cNvPr id="11" name="Text 9"/>
          <p:cNvSpPr/>
          <p:nvPr/>
        </p:nvSpPr>
        <p:spPr>
          <a:xfrm>
            <a:off x="4572000" y="1554480"/>
            <a:ext cx="3017520" cy="548640"/>
          </a:xfrm>
          <a:prstGeom prst="rect">
            <a:avLst/>
          </a:prstGeom>
          <a:noFill/>
          <a:ln/>
        </p:spPr>
        <p:txBody>
          <a:bodyPr wrap="square" rtlCol="0" anchor="ctr"/>
          <a:lstStyle/>
          <a:p>
            <a:pPr indent="0" marL="0">
              <a:buNone/>
            </a:pPr>
            <a:r>
              <a:rPr lang="en-US" sz="1500" b="1" dirty="0">
                <a:solidFill>
                  <a:srgbClr val="F59E0B"/>
                </a:solidFill>
                <a:latin typeface="Arial" pitchFamily="34" charset="0"/>
                <a:ea typeface="Arial" pitchFamily="34" charset="-122"/>
                <a:cs typeface="Arial" pitchFamily="34" charset="-120"/>
              </a:rPr>
              <a:t>2. Complex FMB Survey Ladders</a:t>
            </a:r>
            <a:endParaRPr lang="en-US" sz="1500" dirty="0"/>
          </a:p>
        </p:txBody>
      </p:sp>
      <p:sp>
        <p:nvSpPr>
          <p:cNvPr id="12" name="Text 10"/>
          <p:cNvSpPr/>
          <p:nvPr/>
        </p:nvSpPr>
        <p:spPr>
          <a:xfrm>
            <a:off x="4572000" y="2194560"/>
            <a:ext cx="3017520" cy="256032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Field Measurement Books (FMB) use century-old hand-drawn G-lines and offset ladder tables.</a:t>
            </a:r>
            <a:endParaRPr lang="en-US" sz="1200" dirty="0"/>
          </a:p>
          <a:p>
            <a:pPr indent="0" marL="0">
              <a:buNone/>
            </a:pP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Extracting polygon vertices and cross-checking area against registered claims takes days per parcel.</a:t>
            </a:r>
            <a:endParaRPr lang="en-US" sz="1200" dirty="0"/>
          </a:p>
        </p:txBody>
      </p:sp>
      <p:sp>
        <p:nvSpPr>
          <p:cNvPr id="13" name="Shape 11"/>
          <p:cNvSpPr/>
          <p:nvPr/>
        </p:nvSpPr>
        <p:spPr>
          <a:xfrm>
            <a:off x="8046720" y="1371600"/>
            <a:ext cx="3383280" cy="3657600"/>
          </a:xfrm>
          <a:prstGeom prst="rect">
            <a:avLst>
              <a:gd name="adj" fmla="val 2162"/>
            </a:avLst>
          </a:prstGeom>
          <a:solidFill>
            <a:srgbClr val="1C2541"/>
          </a:solidFill>
          <a:ln w="25400">
            <a:solidFill>
              <a:srgbClr val="EF4444"/>
            </a:solidFill>
            <a:prstDash val="solid"/>
          </a:ln>
        </p:spPr>
      </p:sp>
      <p:sp>
        <p:nvSpPr>
          <p:cNvPr id="14" name="Text 12"/>
          <p:cNvSpPr/>
          <p:nvPr/>
        </p:nvSpPr>
        <p:spPr>
          <a:xfrm>
            <a:off x="8229600" y="1554480"/>
            <a:ext cx="3017520" cy="548640"/>
          </a:xfrm>
          <a:prstGeom prst="rect">
            <a:avLst/>
          </a:prstGeom>
          <a:noFill/>
          <a:ln/>
        </p:spPr>
        <p:txBody>
          <a:bodyPr wrap="square" rtlCol="0" anchor="ctr"/>
          <a:lstStyle/>
          <a:p>
            <a:pPr indent="0" marL="0">
              <a:buNone/>
            </a:pPr>
            <a:r>
              <a:rPr lang="en-US" sz="1500" b="1" dirty="0">
                <a:solidFill>
                  <a:srgbClr val="EF4444"/>
                </a:solidFill>
                <a:latin typeface="Arial" pitchFamily="34" charset="0"/>
                <a:ea typeface="Arial" pitchFamily="34" charset="-122"/>
                <a:cs typeface="Arial" pitchFamily="34" charset="-120"/>
              </a:rPr>
              <a:t>3. Hidden Encroachments &amp; Risk</a:t>
            </a:r>
            <a:endParaRPr lang="en-US" sz="1500" dirty="0"/>
          </a:p>
        </p:txBody>
      </p:sp>
      <p:sp>
        <p:nvSpPr>
          <p:cNvPr id="15" name="Text 13"/>
          <p:cNvSpPr/>
          <p:nvPr/>
        </p:nvSpPr>
        <p:spPr>
          <a:xfrm>
            <a:off x="8229600" y="2194560"/>
            <a:ext cx="3017520" cy="256032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Severe statutory liabilities often go undetected:</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Illegal intrusions into 30m waterbody buffers (Kanmois/Lakes).</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Road Right-of-Way (RoW) violations.</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Unchecked monsoon flood inundation zones.</a:t>
            </a:r>
            <a:endParaRPr lang="en-US" sz="1200" dirty="0"/>
          </a:p>
        </p:txBody>
      </p:sp>
      <p:sp>
        <p:nvSpPr>
          <p:cNvPr id="16" name="Shape 14"/>
          <p:cNvSpPr/>
          <p:nvPr/>
        </p:nvSpPr>
        <p:spPr>
          <a:xfrm>
            <a:off x="731520" y="5303520"/>
            <a:ext cx="10698480" cy="822960"/>
          </a:xfrm>
          <a:prstGeom prst="rect">
            <a:avLst/>
          </a:prstGeom>
          <a:solidFill>
            <a:srgbClr val="1C2541"/>
          </a:solidFill>
          <a:ln w="12700">
            <a:solidFill>
              <a:srgbClr val="3A506B"/>
            </a:solidFill>
            <a:prstDash val="solid"/>
          </a:ln>
        </p:spPr>
      </p:sp>
      <p:sp>
        <p:nvSpPr>
          <p:cNvPr id="17" name="Text 15"/>
          <p:cNvSpPr/>
          <p:nvPr/>
        </p:nvSpPr>
        <p:spPr>
          <a:xfrm>
            <a:off x="1005840" y="5440680"/>
            <a:ext cx="10149840" cy="548640"/>
          </a:xfrm>
          <a:prstGeom prst="rect">
            <a:avLst/>
          </a:prstGeom>
          <a:noFill/>
          <a:ln/>
        </p:spPr>
        <p:txBody>
          <a:bodyPr wrap="square" rtlCol="0" anchor="ctr"/>
          <a:lstStyle/>
          <a:p>
            <a:pPr indent="0" marL="0">
              <a:buNone/>
            </a:pPr>
            <a:r>
              <a:rPr lang="en-US" sz="1200" b="1" dirty="0">
                <a:solidFill>
                  <a:srgbClr val="EF4444"/>
                </a:solidFill>
                <a:latin typeface="Arial" pitchFamily="34" charset="0"/>
                <a:ea typeface="Arial" pitchFamily="34" charset="-122"/>
                <a:cs typeface="Arial" pitchFamily="34" charset="-120"/>
              </a:rPr>
              <a:t>The Result: Financial institutions, solar farm developers, and infrastructure agencies face weeks of delay, high legal costs, and multi-crore non-performing loans (NPLs) from contested land titles.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CORE VALUE PROPOSITION</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The FarmAI Solution: Autonomous GeoAI Due Diligence</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sp>
        <p:nvSpPr>
          <p:cNvPr id="7" name="Shape 5"/>
          <p:cNvSpPr/>
          <p:nvPr/>
        </p:nvSpPr>
        <p:spPr>
          <a:xfrm>
            <a:off x="731520" y="1325880"/>
            <a:ext cx="3383280" cy="2194560"/>
          </a:xfrm>
          <a:prstGeom prst="rect">
            <a:avLst>
              <a:gd name="adj" fmla="val 3333"/>
            </a:avLst>
          </a:prstGeom>
          <a:solidFill>
            <a:srgbClr val="1C2541"/>
          </a:solidFill>
          <a:ln w="12700">
            <a:solidFill>
              <a:srgbClr val="3A506B"/>
            </a:solidFill>
            <a:prstDash val="solid"/>
          </a:ln>
        </p:spPr>
      </p:sp>
      <p:sp>
        <p:nvSpPr>
          <p:cNvPr id="8" name="Text 6"/>
          <p:cNvSpPr/>
          <p:nvPr/>
        </p:nvSpPr>
        <p:spPr>
          <a:xfrm>
            <a:off x="914400" y="1508760"/>
            <a:ext cx="3017520" cy="41148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[1]  Sub-Second Ingestion &amp; OCR</a:t>
            </a:r>
            <a:endParaRPr lang="en-US" sz="1400" dirty="0"/>
          </a:p>
        </p:txBody>
      </p:sp>
      <p:sp>
        <p:nvSpPr>
          <p:cNvPr id="9" name="Text 7"/>
          <p:cNvSpPr/>
          <p:nvPr/>
        </p:nvSpPr>
        <p:spPr>
          <a:xfrm>
            <a:off x="914400" y="1965960"/>
            <a:ext cx="3017520" cy="1371600"/>
          </a:xfrm>
          <a:prstGeom prst="rect">
            <a:avLst/>
          </a:prstGeom>
          <a:noFill/>
          <a:ln/>
        </p:spPr>
        <p:txBody>
          <a:bodyPr wrap="square" rtlCol="0" anchor="ctr"/>
          <a:lstStyle/>
          <a:p>
            <a:pPr indent="0" marL="0">
              <a:buNone/>
            </a:pPr>
            <a:r>
              <a:rPr lang="en-US" sz="1100" dirty="0">
                <a:solidFill>
                  <a:srgbClr val="F8FAFC"/>
                </a:solidFill>
                <a:latin typeface="Arial" pitchFamily="34" charset="0"/>
                <a:ea typeface="Arial" pitchFamily="34" charset="-122"/>
                <a:cs typeface="Arial" pitchFamily="34" charset="-120"/>
              </a:rPr>
              <a:t>Extracts survey numbers, sub-divisions, pattadar names, extent (Hectares-Ares/Cents to Acres/m2), and statutory boundaries across Tamil &amp; English formats.</a:t>
            </a:r>
            <a:endParaRPr lang="en-US" sz="1100" dirty="0"/>
          </a:p>
        </p:txBody>
      </p:sp>
      <p:sp>
        <p:nvSpPr>
          <p:cNvPr id="10" name="Shape 8"/>
          <p:cNvSpPr/>
          <p:nvPr/>
        </p:nvSpPr>
        <p:spPr>
          <a:xfrm>
            <a:off x="4389120" y="1325880"/>
            <a:ext cx="3383280" cy="2194560"/>
          </a:xfrm>
          <a:prstGeom prst="rect">
            <a:avLst>
              <a:gd name="adj" fmla="val 3333"/>
            </a:avLst>
          </a:prstGeom>
          <a:solidFill>
            <a:srgbClr val="1C2541"/>
          </a:solidFill>
          <a:ln w="12700">
            <a:solidFill>
              <a:srgbClr val="3A506B"/>
            </a:solidFill>
            <a:prstDash val="solid"/>
          </a:ln>
        </p:spPr>
      </p:sp>
      <p:sp>
        <p:nvSpPr>
          <p:cNvPr id="11" name="Text 9"/>
          <p:cNvSpPr/>
          <p:nvPr/>
        </p:nvSpPr>
        <p:spPr>
          <a:xfrm>
            <a:off x="4572000" y="1508760"/>
            <a:ext cx="3017520" cy="41148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[2]  FMB Ladder Vectorization</a:t>
            </a:r>
            <a:endParaRPr lang="en-US" sz="1400" dirty="0"/>
          </a:p>
        </p:txBody>
      </p:sp>
      <p:sp>
        <p:nvSpPr>
          <p:cNvPr id="12" name="Text 10"/>
          <p:cNvSpPr/>
          <p:nvPr/>
        </p:nvSpPr>
        <p:spPr>
          <a:xfrm>
            <a:off x="4572000" y="1965960"/>
            <a:ext cx="3017520" cy="1371600"/>
          </a:xfrm>
          <a:prstGeom prst="rect">
            <a:avLst/>
          </a:prstGeom>
          <a:noFill/>
          <a:ln/>
        </p:spPr>
        <p:txBody>
          <a:bodyPr wrap="square" rtlCol="0" anchor="ctr"/>
          <a:lstStyle/>
          <a:p>
            <a:pPr indent="0" marL="0">
              <a:buNone/>
            </a:pPr>
            <a:r>
              <a:rPr lang="en-US" sz="1100" dirty="0">
                <a:solidFill>
                  <a:srgbClr val="F8FAFC"/>
                </a:solidFill>
                <a:latin typeface="Arial" pitchFamily="34" charset="0"/>
                <a:ea typeface="Arial" pitchFamily="34" charset="-122"/>
                <a:cs typeface="Arial" pitchFamily="34" charset="-120"/>
              </a:rPr>
              <a:t>Converts raw surveyor ladder tables (G-line base, left/right perpendicular offsets) into precise EPSG-compliant metric vector polygons using the Shoelace formula.</a:t>
            </a:r>
            <a:endParaRPr lang="en-US" sz="1100" dirty="0"/>
          </a:p>
        </p:txBody>
      </p:sp>
      <p:sp>
        <p:nvSpPr>
          <p:cNvPr id="13" name="Shape 11"/>
          <p:cNvSpPr/>
          <p:nvPr/>
        </p:nvSpPr>
        <p:spPr>
          <a:xfrm>
            <a:off x="8046720" y="1325880"/>
            <a:ext cx="3383280" cy="2194560"/>
          </a:xfrm>
          <a:prstGeom prst="rect">
            <a:avLst>
              <a:gd name="adj" fmla="val 3333"/>
            </a:avLst>
          </a:prstGeom>
          <a:solidFill>
            <a:srgbClr val="1C2541"/>
          </a:solidFill>
          <a:ln w="12700">
            <a:solidFill>
              <a:srgbClr val="3A506B"/>
            </a:solidFill>
            <a:prstDash val="solid"/>
          </a:ln>
        </p:spPr>
      </p:sp>
      <p:sp>
        <p:nvSpPr>
          <p:cNvPr id="14" name="Text 12"/>
          <p:cNvSpPr/>
          <p:nvPr/>
        </p:nvSpPr>
        <p:spPr>
          <a:xfrm>
            <a:off x="8229600" y="1508760"/>
            <a:ext cx="3017520" cy="41148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[3]  3-Way Spatial Reconciliation</a:t>
            </a:r>
            <a:endParaRPr lang="en-US" sz="1400" dirty="0"/>
          </a:p>
        </p:txBody>
      </p:sp>
      <p:sp>
        <p:nvSpPr>
          <p:cNvPr id="15" name="Text 13"/>
          <p:cNvSpPr/>
          <p:nvPr/>
        </p:nvSpPr>
        <p:spPr>
          <a:xfrm>
            <a:off x="8229600" y="1965960"/>
            <a:ext cx="3017520" cy="1371600"/>
          </a:xfrm>
          <a:prstGeom prst="rect">
            <a:avLst/>
          </a:prstGeom>
          <a:noFill/>
          <a:ln/>
        </p:spPr>
        <p:txBody>
          <a:bodyPr wrap="square" rtlCol="0" anchor="ctr"/>
          <a:lstStyle/>
          <a:p>
            <a:pPr indent="0" marL="0">
              <a:buNone/>
            </a:pPr>
            <a:r>
              <a:rPr lang="en-US" sz="1100" dirty="0">
                <a:solidFill>
                  <a:srgbClr val="F8FAFC"/>
                </a:solidFill>
                <a:latin typeface="Arial" pitchFamily="34" charset="0"/>
                <a:ea typeface="Arial" pitchFamily="34" charset="-122"/>
                <a:cs typeface="Arial" pitchFamily="34" charset="-120"/>
              </a:rPr>
              <a:t>Cross-checks Document Claimed Extent vs. Cadastral GIS Polygon vs. FMB Surveyed Polygon. Automatically flags any variance exceeding permissible 2.0% threshold.</a:t>
            </a:r>
            <a:endParaRPr lang="en-US" sz="1100" dirty="0"/>
          </a:p>
        </p:txBody>
      </p:sp>
      <p:sp>
        <p:nvSpPr>
          <p:cNvPr id="16" name="Shape 14"/>
          <p:cNvSpPr/>
          <p:nvPr/>
        </p:nvSpPr>
        <p:spPr>
          <a:xfrm>
            <a:off x="731520" y="3749040"/>
            <a:ext cx="3383280" cy="2194560"/>
          </a:xfrm>
          <a:prstGeom prst="rect">
            <a:avLst>
              <a:gd name="adj" fmla="val 3333"/>
            </a:avLst>
          </a:prstGeom>
          <a:solidFill>
            <a:srgbClr val="1C2541"/>
          </a:solidFill>
          <a:ln w="12700">
            <a:solidFill>
              <a:srgbClr val="3A506B"/>
            </a:solidFill>
            <a:prstDash val="solid"/>
          </a:ln>
        </p:spPr>
      </p:sp>
      <p:sp>
        <p:nvSpPr>
          <p:cNvPr id="17" name="Text 15"/>
          <p:cNvSpPr/>
          <p:nvPr/>
        </p:nvSpPr>
        <p:spPr>
          <a:xfrm>
            <a:off x="914400" y="3931920"/>
            <a:ext cx="3017520" cy="41148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[4]  Statutory Buffer Auditing</a:t>
            </a:r>
            <a:endParaRPr lang="en-US" sz="1400" dirty="0"/>
          </a:p>
        </p:txBody>
      </p:sp>
      <p:sp>
        <p:nvSpPr>
          <p:cNvPr id="18" name="Text 16"/>
          <p:cNvSpPr/>
          <p:nvPr/>
        </p:nvSpPr>
        <p:spPr>
          <a:xfrm>
            <a:off x="914400" y="4389120"/>
            <a:ext cx="3017520" cy="1371600"/>
          </a:xfrm>
          <a:prstGeom prst="rect">
            <a:avLst/>
          </a:prstGeom>
          <a:noFill/>
          <a:ln/>
        </p:spPr>
        <p:txBody>
          <a:bodyPr wrap="square" rtlCol="0" anchor="ctr"/>
          <a:lstStyle/>
          <a:p>
            <a:pPr indent="0" marL="0">
              <a:buNone/>
            </a:pPr>
            <a:r>
              <a:rPr lang="en-US" sz="1100" dirty="0">
                <a:solidFill>
                  <a:srgbClr val="F8FAFC"/>
                </a:solidFill>
                <a:latin typeface="Arial" pitchFamily="34" charset="0"/>
                <a:ea typeface="Arial" pitchFamily="34" charset="-122"/>
                <a:cs typeface="Arial" pitchFamily="34" charset="-120"/>
              </a:rPr>
              <a:t>Shapely computational geometric intersection algorithms instantly check for 30m waterbody buffers and 15m road setbacks.</a:t>
            </a:r>
            <a:endParaRPr lang="en-US" sz="1100" dirty="0"/>
          </a:p>
        </p:txBody>
      </p:sp>
      <p:sp>
        <p:nvSpPr>
          <p:cNvPr id="19" name="Shape 17"/>
          <p:cNvSpPr/>
          <p:nvPr/>
        </p:nvSpPr>
        <p:spPr>
          <a:xfrm>
            <a:off x="4389120" y="3749040"/>
            <a:ext cx="3383280" cy="2194560"/>
          </a:xfrm>
          <a:prstGeom prst="rect">
            <a:avLst>
              <a:gd name="adj" fmla="val 3333"/>
            </a:avLst>
          </a:prstGeom>
          <a:solidFill>
            <a:srgbClr val="1C2541"/>
          </a:solidFill>
          <a:ln w="12700">
            <a:solidFill>
              <a:srgbClr val="3A506B"/>
            </a:solidFill>
            <a:prstDash val="solid"/>
          </a:ln>
        </p:spPr>
      </p:sp>
      <p:sp>
        <p:nvSpPr>
          <p:cNvPr id="20" name="Text 18"/>
          <p:cNvSpPr/>
          <p:nvPr/>
        </p:nvSpPr>
        <p:spPr>
          <a:xfrm>
            <a:off x="4572000" y="3931920"/>
            <a:ext cx="3017520" cy="41148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[5]  Objective Title Risk Score (0-100)</a:t>
            </a:r>
            <a:endParaRPr lang="en-US" sz="1400" dirty="0"/>
          </a:p>
        </p:txBody>
      </p:sp>
      <p:sp>
        <p:nvSpPr>
          <p:cNvPr id="21" name="Text 19"/>
          <p:cNvSpPr/>
          <p:nvPr/>
        </p:nvSpPr>
        <p:spPr>
          <a:xfrm>
            <a:off x="4572000" y="4389120"/>
            <a:ext cx="3017520" cy="1371600"/>
          </a:xfrm>
          <a:prstGeom prst="rect">
            <a:avLst/>
          </a:prstGeom>
          <a:noFill/>
          <a:ln/>
        </p:spPr>
        <p:txBody>
          <a:bodyPr wrap="square" rtlCol="0" anchor="ctr"/>
          <a:lstStyle/>
          <a:p>
            <a:pPr indent="0" marL="0">
              <a:buNone/>
            </a:pPr>
            <a:r>
              <a:rPr lang="en-US" sz="1100" dirty="0">
                <a:solidFill>
                  <a:srgbClr val="F8FAFC"/>
                </a:solidFill>
                <a:latin typeface="Arial" pitchFamily="34" charset="0"/>
                <a:ea typeface="Arial" pitchFamily="34" charset="-122"/>
                <a:cs typeface="Arial" pitchFamily="34" charset="-120"/>
              </a:rPr>
              <a:t>Generates an objective, weighted risk penalty index categorizing titles into Tier 1 (Clean), Tier 2 (Caution), or Tier 3 (Critical Risk/Rejected).</a:t>
            </a:r>
            <a:endParaRPr lang="en-US" sz="1100" dirty="0"/>
          </a:p>
        </p:txBody>
      </p:sp>
      <p:sp>
        <p:nvSpPr>
          <p:cNvPr id="22" name="Shape 20"/>
          <p:cNvSpPr/>
          <p:nvPr/>
        </p:nvSpPr>
        <p:spPr>
          <a:xfrm>
            <a:off x="8046720" y="3749040"/>
            <a:ext cx="3383280" cy="2194560"/>
          </a:xfrm>
          <a:prstGeom prst="rect">
            <a:avLst>
              <a:gd name="adj" fmla="val 3333"/>
            </a:avLst>
          </a:prstGeom>
          <a:solidFill>
            <a:srgbClr val="1C2541"/>
          </a:solidFill>
          <a:ln w="12700">
            <a:solidFill>
              <a:srgbClr val="3A506B"/>
            </a:solidFill>
            <a:prstDash val="solid"/>
          </a:ln>
        </p:spPr>
      </p:sp>
      <p:sp>
        <p:nvSpPr>
          <p:cNvPr id="23" name="Text 21"/>
          <p:cNvSpPr/>
          <p:nvPr/>
        </p:nvSpPr>
        <p:spPr>
          <a:xfrm>
            <a:off x="8229600" y="3931920"/>
            <a:ext cx="3017520" cy="41148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[6]  Automated Audit Certificate</a:t>
            </a:r>
            <a:endParaRPr lang="en-US" sz="1400" dirty="0"/>
          </a:p>
        </p:txBody>
      </p:sp>
      <p:sp>
        <p:nvSpPr>
          <p:cNvPr id="24" name="Text 22"/>
          <p:cNvSpPr/>
          <p:nvPr/>
        </p:nvSpPr>
        <p:spPr>
          <a:xfrm>
            <a:off x="8229600" y="4389120"/>
            <a:ext cx="3017520" cy="1371600"/>
          </a:xfrm>
          <a:prstGeom prst="rect">
            <a:avLst/>
          </a:prstGeom>
          <a:noFill/>
          <a:ln/>
        </p:spPr>
        <p:txBody>
          <a:bodyPr wrap="square" rtlCol="0" anchor="ctr"/>
          <a:lstStyle/>
          <a:p>
            <a:pPr indent="0" marL="0">
              <a:buNone/>
            </a:pPr>
            <a:r>
              <a:rPr lang="en-US" sz="1100" dirty="0">
                <a:solidFill>
                  <a:srgbClr val="F8FAFC"/>
                </a:solidFill>
                <a:latin typeface="Arial" pitchFamily="34" charset="0"/>
                <a:ea typeface="Arial" pitchFamily="34" charset="-122"/>
                <a:cs typeface="Arial" pitchFamily="34" charset="-120"/>
              </a:rPr>
              <a:t>Produces tamper-evident digital due diligence audit reports with parcel geometry snapshots and audit hashes ready for legal sign-off.</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SYSTEM ARCHITECTURE</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End-to-End Multi-Tier System Architecture</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sp>
        <p:nvSpPr>
          <p:cNvPr id="7" name="Shape 5"/>
          <p:cNvSpPr/>
          <p:nvPr/>
        </p:nvSpPr>
        <p:spPr>
          <a:xfrm>
            <a:off x="731520" y="1325880"/>
            <a:ext cx="2560320" cy="4754880"/>
          </a:xfrm>
          <a:prstGeom prst="rect">
            <a:avLst>
              <a:gd name="adj" fmla="val 2857"/>
            </a:avLst>
          </a:prstGeom>
          <a:solidFill>
            <a:srgbClr val="1C2541"/>
          </a:solidFill>
          <a:ln w="25400">
            <a:solidFill>
              <a:srgbClr val="0EA5E9"/>
            </a:solidFill>
            <a:prstDash val="solid"/>
          </a:ln>
        </p:spPr>
      </p:sp>
      <p:sp>
        <p:nvSpPr>
          <p:cNvPr id="8" name="Text 6"/>
          <p:cNvSpPr/>
          <p:nvPr/>
        </p:nvSpPr>
        <p:spPr>
          <a:xfrm>
            <a:off x="868680" y="1463040"/>
            <a:ext cx="2286000" cy="365760"/>
          </a:xfrm>
          <a:prstGeom prst="rect">
            <a:avLst/>
          </a:prstGeom>
          <a:noFill/>
          <a:ln/>
        </p:spPr>
        <p:txBody>
          <a:bodyPr wrap="square" rtlCol="0" anchor="ctr"/>
          <a:lstStyle/>
          <a:p>
            <a:pPr indent="0" marL="0">
              <a:buNone/>
            </a:pPr>
            <a:r>
              <a:rPr lang="en-US" sz="1200" b="1" dirty="0">
                <a:solidFill>
                  <a:srgbClr val="0EA5E9"/>
                </a:solidFill>
                <a:latin typeface="Arial" pitchFamily="34" charset="0"/>
                <a:ea typeface="Arial" pitchFamily="34" charset="-122"/>
                <a:cs typeface="Arial" pitchFamily="34" charset="-120"/>
              </a:rPr>
              <a:t>1. PRESENTATION LAYER</a:t>
            </a:r>
            <a:endParaRPr lang="en-US" sz="1200" dirty="0"/>
          </a:p>
        </p:txBody>
      </p:sp>
      <p:sp>
        <p:nvSpPr>
          <p:cNvPr id="9" name="Text 7"/>
          <p:cNvSpPr/>
          <p:nvPr/>
        </p:nvSpPr>
        <p:spPr>
          <a:xfrm>
            <a:off x="868680" y="1874520"/>
            <a:ext cx="2286000" cy="54864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React 18 + Vite + Tailwind CSS v4 + Leaflet GIS</a:t>
            </a:r>
            <a:endParaRPr lang="en-US" sz="1000" dirty="0"/>
          </a:p>
        </p:txBody>
      </p:sp>
      <p:sp>
        <p:nvSpPr>
          <p:cNvPr id="10" name="Shape 8"/>
          <p:cNvSpPr/>
          <p:nvPr/>
        </p:nvSpPr>
        <p:spPr>
          <a:xfrm>
            <a:off x="868680" y="2468880"/>
            <a:ext cx="2286000" cy="0"/>
          </a:xfrm>
          <a:prstGeom prst="line">
            <a:avLst/>
          </a:prstGeom>
          <a:noFill/>
          <a:ln w="12700">
            <a:solidFill>
              <a:srgbClr val="3A506B"/>
            </a:solidFill>
            <a:prstDash val="solid"/>
          </a:ln>
        </p:spPr>
      </p:sp>
      <p:sp>
        <p:nvSpPr>
          <p:cNvPr id="11" name="Text 9"/>
          <p:cNvSpPr/>
          <p:nvPr/>
        </p:nvSpPr>
        <p:spPr>
          <a:xfrm>
            <a:off x="868680" y="2606040"/>
            <a:ext cx="228600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Interactive Satellite &amp; Hybrid GIS Explorer (Esri World Imagery)</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396 Parcel Cadastral Map Overlays with Real-Time Centroid Fly-To</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Multimodal Document OCR &amp; Discrepancy Matrix Visualizer</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Automated Due Diligence Audit Certificate Modal (PDF/Print Ready)</a:t>
            </a:r>
            <a:endParaRPr lang="en-US" sz="1050" dirty="0"/>
          </a:p>
        </p:txBody>
      </p:sp>
      <p:sp>
        <p:nvSpPr>
          <p:cNvPr id="12" name="Shape 10"/>
          <p:cNvSpPr/>
          <p:nvPr/>
        </p:nvSpPr>
        <p:spPr>
          <a:xfrm>
            <a:off x="3474720" y="1325880"/>
            <a:ext cx="2560320" cy="4754880"/>
          </a:xfrm>
          <a:prstGeom prst="rect">
            <a:avLst>
              <a:gd name="adj" fmla="val 2857"/>
            </a:avLst>
          </a:prstGeom>
          <a:solidFill>
            <a:srgbClr val="1C2541"/>
          </a:solidFill>
          <a:ln w="25400">
            <a:solidFill>
              <a:srgbClr val="10B981"/>
            </a:solidFill>
            <a:prstDash val="solid"/>
          </a:ln>
        </p:spPr>
      </p:sp>
      <p:sp>
        <p:nvSpPr>
          <p:cNvPr id="13" name="Text 11"/>
          <p:cNvSpPr/>
          <p:nvPr/>
        </p:nvSpPr>
        <p:spPr>
          <a:xfrm>
            <a:off x="3611880" y="1463040"/>
            <a:ext cx="2286000" cy="36576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2. API &amp; GATEWAY LAYER</a:t>
            </a:r>
            <a:endParaRPr lang="en-US" sz="1200" dirty="0"/>
          </a:p>
        </p:txBody>
      </p:sp>
      <p:sp>
        <p:nvSpPr>
          <p:cNvPr id="14" name="Text 12"/>
          <p:cNvSpPr/>
          <p:nvPr/>
        </p:nvSpPr>
        <p:spPr>
          <a:xfrm>
            <a:off x="3611880" y="1874520"/>
            <a:ext cx="2286000" cy="54864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FastAPI (Asynchronous Python 3.11/3.13) + Uvicorn</a:t>
            </a:r>
            <a:endParaRPr lang="en-US" sz="1000" dirty="0"/>
          </a:p>
        </p:txBody>
      </p:sp>
      <p:sp>
        <p:nvSpPr>
          <p:cNvPr id="15" name="Shape 13"/>
          <p:cNvSpPr/>
          <p:nvPr/>
        </p:nvSpPr>
        <p:spPr>
          <a:xfrm>
            <a:off x="3611880" y="2468880"/>
            <a:ext cx="2286000" cy="0"/>
          </a:xfrm>
          <a:prstGeom prst="line">
            <a:avLst/>
          </a:prstGeom>
          <a:noFill/>
          <a:ln w="12700">
            <a:solidFill>
              <a:srgbClr val="3A506B"/>
            </a:solidFill>
            <a:prstDash val="solid"/>
          </a:ln>
        </p:spPr>
      </p:sp>
      <p:sp>
        <p:nvSpPr>
          <p:cNvPr id="16" name="Text 14"/>
          <p:cNvSpPr/>
          <p:nvPr/>
        </p:nvSpPr>
        <p:spPr>
          <a:xfrm>
            <a:off x="3611880" y="2606040"/>
            <a:ext cx="228600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High-performance non-blocking async REST endpoints (/api/analyze)</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8MB Chunked Disk-Streaming Ingestion Worker for 500MB+ datasets</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CORS middleware, input sanitization, and structured JSON schemas</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Health check and module status diagnostics (/api/health)</a:t>
            </a:r>
            <a:endParaRPr lang="en-US" sz="1050" dirty="0"/>
          </a:p>
        </p:txBody>
      </p:sp>
      <p:sp>
        <p:nvSpPr>
          <p:cNvPr id="17" name="Shape 15"/>
          <p:cNvSpPr/>
          <p:nvPr/>
        </p:nvSpPr>
        <p:spPr>
          <a:xfrm>
            <a:off x="6217920" y="1325880"/>
            <a:ext cx="2560320" cy="4754880"/>
          </a:xfrm>
          <a:prstGeom prst="rect">
            <a:avLst>
              <a:gd name="adj" fmla="val 2857"/>
            </a:avLst>
          </a:prstGeom>
          <a:solidFill>
            <a:srgbClr val="1C2541"/>
          </a:solidFill>
          <a:ln w="25400">
            <a:solidFill>
              <a:srgbClr val="F59E0B"/>
            </a:solidFill>
            <a:prstDash val="solid"/>
          </a:ln>
        </p:spPr>
      </p:sp>
      <p:sp>
        <p:nvSpPr>
          <p:cNvPr id="18" name="Text 16"/>
          <p:cNvSpPr/>
          <p:nvPr/>
        </p:nvSpPr>
        <p:spPr>
          <a:xfrm>
            <a:off x="6355080" y="1463040"/>
            <a:ext cx="2286000" cy="36576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3. CORE GEOAI ENGINES</a:t>
            </a:r>
            <a:endParaRPr lang="en-US" sz="1200" dirty="0"/>
          </a:p>
        </p:txBody>
      </p:sp>
      <p:sp>
        <p:nvSpPr>
          <p:cNvPr id="19" name="Text 17"/>
          <p:cNvSpPr/>
          <p:nvPr/>
        </p:nvSpPr>
        <p:spPr>
          <a:xfrm>
            <a:off x="6355080" y="1874520"/>
            <a:ext cx="2286000" cy="54864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Shapely Geometry, NumPy, PyPDF, Pytesseract, SRTM DEM</a:t>
            </a:r>
            <a:endParaRPr lang="en-US" sz="1000" dirty="0"/>
          </a:p>
        </p:txBody>
      </p:sp>
      <p:sp>
        <p:nvSpPr>
          <p:cNvPr id="20" name="Shape 18"/>
          <p:cNvSpPr/>
          <p:nvPr/>
        </p:nvSpPr>
        <p:spPr>
          <a:xfrm>
            <a:off x="6355080" y="2468880"/>
            <a:ext cx="2286000" cy="0"/>
          </a:xfrm>
          <a:prstGeom prst="line">
            <a:avLst/>
          </a:prstGeom>
          <a:noFill/>
          <a:ln w="12700">
            <a:solidFill>
              <a:srgbClr val="3A506B"/>
            </a:solidFill>
            <a:prstDash val="solid"/>
          </a:ln>
        </p:spPr>
      </p:sp>
      <p:sp>
        <p:nvSpPr>
          <p:cNvPr id="21" name="Text 19"/>
          <p:cNvSpPr/>
          <p:nvPr/>
        </p:nvSpPr>
        <p:spPr>
          <a:xfrm>
            <a:off x="6355080" y="2606040"/>
            <a:ext cx="228600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Engine 1: Multimodal OCR &amp; Bilingual Tamil/English NLP Parser</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Engine 2: FMB G-Line Coordinate Vectorizer (Shoelace Formula)</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Engine 3: Spatial Cadastral Reconciler &amp; 3-Way Cross Checker</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Engine 4: Raster DEM &amp; Hydrological Flood Inundation Engine</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Engine 5: Title Integrity Risk Scorer (0-100 Penalty Matrix)</a:t>
            </a:r>
            <a:endParaRPr lang="en-US" sz="1050" dirty="0"/>
          </a:p>
        </p:txBody>
      </p:sp>
      <p:sp>
        <p:nvSpPr>
          <p:cNvPr id="22" name="Shape 20"/>
          <p:cNvSpPr/>
          <p:nvPr/>
        </p:nvSpPr>
        <p:spPr>
          <a:xfrm>
            <a:off x="8961120" y="1325880"/>
            <a:ext cx="2560320" cy="4754880"/>
          </a:xfrm>
          <a:prstGeom prst="rect">
            <a:avLst>
              <a:gd name="adj" fmla="val 2857"/>
            </a:avLst>
          </a:prstGeom>
          <a:solidFill>
            <a:srgbClr val="1C2541"/>
          </a:solidFill>
          <a:ln w="25400">
            <a:solidFill>
              <a:srgbClr val="EF4444"/>
            </a:solidFill>
            <a:prstDash val="solid"/>
          </a:ln>
        </p:spPr>
      </p:sp>
      <p:sp>
        <p:nvSpPr>
          <p:cNvPr id="23" name="Text 21"/>
          <p:cNvSpPr/>
          <p:nvPr/>
        </p:nvSpPr>
        <p:spPr>
          <a:xfrm>
            <a:off x="9098280" y="1463040"/>
            <a:ext cx="2286000" cy="365760"/>
          </a:xfrm>
          <a:prstGeom prst="rect">
            <a:avLst/>
          </a:prstGeom>
          <a:noFill/>
          <a:ln/>
        </p:spPr>
        <p:txBody>
          <a:bodyPr wrap="square" rtlCol="0" anchor="ctr"/>
          <a:lstStyle/>
          <a:p>
            <a:pPr indent="0" marL="0">
              <a:buNone/>
            </a:pPr>
            <a:r>
              <a:rPr lang="en-US" sz="1200" b="1" dirty="0">
                <a:solidFill>
                  <a:srgbClr val="EF4444"/>
                </a:solidFill>
                <a:latin typeface="Arial" pitchFamily="34" charset="0"/>
                <a:ea typeface="Arial" pitchFamily="34" charset="-122"/>
                <a:cs typeface="Arial" pitchFamily="34" charset="-120"/>
              </a:rPr>
              <a:t>4. CLOUD &amp; DATA LAYER</a:t>
            </a:r>
            <a:endParaRPr lang="en-US" sz="1200" dirty="0"/>
          </a:p>
        </p:txBody>
      </p:sp>
      <p:sp>
        <p:nvSpPr>
          <p:cNvPr id="24" name="Text 22"/>
          <p:cNvSpPr/>
          <p:nvPr/>
        </p:nvSpPr>
        <p:spPr>
          <a:xfrm>
            <a:off x="9098280" y="1874520"/>
            <a:ext cx="2286000" cy="54864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Amazon Web Services (AWS ap-south-1 Mumbai) + GeoJSON</a:t>
            </a:r>
            <a:endParaRPr lang="en-US" sz="1000" dirty="0"/>
          </a:p>
        </p:txBody>
      </p:sp>
      <p:sp>
        <p:nvSpPr>
          <p:cNvPr id="25" name="Shape 23"/>
          <p:cNvSpPr/>
          <p:nvPr/>
        </p:nvSpPr>
        <p:spPr>
          <a:xfrm>
            <a:off x="9098280" y="2468880"/>
            <a:ext cx="2286000" cy="0"/>
          </a:xfrm>
          <a:prstGeom prst="line">
            <a:avLst/>
          </a:prstGeom>
          <a:noFill/>
          <a:ln w="12700">
            <a:solidFill>
              <a:srgbClr val="3A506B"/>
            </a:solidFill>
            <a:prstDash val="solid"/>
          </a:ln>
        </p:spPr>
      </p:sp>
      <p:sp>
        <p:nvSpPr>
          <p:cNvPr id="26" name="Text 24"/>
          <p:cNvSpPr/>
          <p:nvPr/>
        </p:nvSpPr>
        <p:spPr>
          <a:xfrm>
            <a:off x="9098280" y="2606040"/>
            <a:ext cx="228600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Amazon Textract: High-accuracy OCR &amp; document intelligence</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Amazon S3: Land document buffer and multi-page PDF processing</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Amazon DynamoDB: Tamper-evident title audit records and trail</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12 Geospatial Layers: Cadastral parcels, roads, waterbodies, parks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DEEP-DIVE ENGINES 1-3</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Core Engines: Document OCR, FMB &amp; Spatial Geometry</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sp>
        <p:nvSpPr>
          <p:cNvPr id="7" name="Shape 5"/>
          <p:cNvSpPr/>
          <p:nvPr/>
        </p:nvSpPr>
        <p:spPr>
          <a:xfrm>
            <a:off x="731520" y="1325880"/>
            <a:ext cx="3383280" cy="4754880"/>
          </a:xfrm>
          <a:prstGeom prst="rect">
            <a:avLst>
              <a:gd name="adj" fmla="val 2162"/>
            </a:avLst>
          </a:prstGeom>
          <a:solidFill>
            <a:srgbClr val="1C2541"/>
          </a:solidFill>
          <a:ln w="25400">
            <a:solidFill>
              <a:srgbClr val="0EA5E9"/>
            </a:solidFill>
            <a:prstDash val="solid"/>
          </a:ln>
        </p:spPr>
      </p:sp>
      <p:sp>
        <p:nvSpPr>
          <p:cNvPr id="8" name="Text 6"/>
          <p:cNvSpPr/>
          <p:nvPr/>
        </p:nvSpPr>
        <p:spPr>
          <a:xfrm>
            <a:off x="914400" y="1463040"/>
            <a:ext cx="3017520" cy="274320"/>
          </a:xfrm>
          <a:prstGeom prst="rect">
            <a:avLst/>
          </a:prstGeom>
          <a:noFill/>
          <a:ln/>
        </p:spPr>
        <p:txBody>
          <a:bodyPr wrap="square" rtlCol="0" anchor="ctr"/>
          <a:lstStyle/>
          <a:p>
            <a:pPr indent="0" marL="0">
              <a:buNone/>
            </a:pPr>
            <a:r>
              <a:rPr lang="en-US" sz="1100" b="1" dirty="0">
                <a:solidFill>
                  <a:srgbClr val="0EA5E9"/>
                </a:solidFill>
                <a:latin typeface="Arial" pitchFamily="34" charset="0"/>
                <a:ea typeface="Arial" pitchFamily="34" charset="-122"/>
                <a:cs typeface="Arial" pitchFamily="34" charset="-120"/>
              </a:rPr>
              <a:t>ENGINE 1</a:t>
            </a:r>
            <a:endParaRPr lang="en-US" sz="1100" dirty="0"/>
          </a:p>
        </p:txBody>
      </p:sp>
      <p:sp>
        <p:nvSpPr>
          <p:cNvPr id="9" name="Text 7"/>
          <p:cNvSpPr/>
          <p:nvPr/>
        </p:nvSpPr>
        <p:spPr>
          <a:xfrm>
            <a:off x="914400" y="1737360"/>
            <a:ext cx="3017520" cy="5486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Multimodal OCR &amp; Bilingual Parser</a:t>
            </a:r>
            <a:endParaRPr lang="en-US" sz="1400" dirty="0"/>
          </a:p>
        </p:txBody>
      </p:sp>
      <p:sp>
        <p:nvSpPr>
          <p:cNvPr id="10" name="Text 8"/>
          <p:cNvSpPr/>
          <p:nvPr/>
        </p:nvSpPr>
        <p:spPr>
          <a:xfrm>
            <a:off x="914400" y="2286000"/>
            <a:ext cx="3017520" cy="27432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File: backend/ocr_engine.py</a:t>
            </a:r>
            <a:endParaRPr lang="en-US" sz="1000" dirty="0"/>
          </a:p>
        </p:txBody>
      </p:sp>
      <p:sp>
        <p:nvSpPr>
          <p:cNvPr id="11" name="Text 9"/>
          <p:cNvSpPr/>
          <p:nvPr/>
        </p:nvSpPr>
        <p:spPr>
          <a:xfrm>
            <a:off x="914400" y="2651760"/>
            <a:ext cx="301752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Bilingual Tokenizer: Custom regex heuristics trained on Tamil Nadu Form 10 (e-Patta/Chitta).</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Entity Normalization: Automatically captures base survey numbers &amp; sub-divisions (e.g. 102/1A, 104/2B).</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Area Unit Standardizer: Converts Hectares-Ares &amp; Cents into Acres &amp; Square Meters:</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Formula: Acres = (Hectares x 2.47105) + (Ares x 0.0247105)</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Classification: Categorizes Ryotwari Dry (Punjai), Wet (Nanjai), Natham, and restricted Poramboke.</a:t>
            </a:r>
            <a:endParaRPr lang="en-US" sz="1050" dirty="0"/>
          </a:p>
        </p:txBody>
      </p:sp>
      <p:sp>
        <p:nvSpPr>
          <p:cNvPr id="12" name="Shape 10"/>
          <p:cNvSpPr/>
          <p:nvPr/>
        </p:nvSpPr>
        <p:spPr>
          <a:xfrm>
            <a:off x="4389120" y="1325880"/>
            <a:ext cx="3383280" cy="4754880"/>
          </a:xfrm>
          <a:prstGeom prst="rect">
            <a:avLst>
              <a:gd name="adj" fmla="val 2162"/>
            </a:avLst>
          </a:prstGeom>
          <a:solidFill>
            <a:srgbClr val="1C2541"/>
          </a:solidFill>
          <a:ln w="25400">
            <a:solidFill>
              <a:srgbClr val="10B981"/>
            </a:solidFill>
            <a:prstDash val="solid"/>
          </a:ln>
        </p:spPr>
      </p:sp>
      <p:sp>
        <p:nvSpPr>
          <p:cNvPr id="13" name="Text 11"/>
          <p:cNvSpPr/>
          <p:nvPr/>
        </p:nvSpPr>
        <p:spPr>
          <a:xfrm>
            <a:off x="4572000" y="1463040"/>
            <a:ext cx="301752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ENGINE 2</a:t>
            </a:r>
            <a:endParaRPr lang="en-US" sz="1100" dirty="0"/>
          </a:p>
        </p:txBody>
      </p:sp>
      <p:sp>
        <p:nvSpPr>
          <p:cNvPr id="14" name="Text 12"/>
          <p:cNvSpPr/>
          <p:nvPr/>
        </p:nvSpPr>
        <p:spPr>
          <a:xfrm>
            <a:off x="4572000" y="1737360"/>
            <a:ext cx="3017520" cy="5486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FMB Ladder Vectorization Engine</a:t>
            </a:r>
            <a:endParaRPr lang="en-US" sz="1400" dirty="0"/>
          </a:p>
        </p:txBody>
      </p:sp>
      <p:sp>
        <p:nvSpPr>
          <p:cNvPr id="15" name="Text 13"/>
          <p:cNvSpPr/>
          <p:nvPr/>
        </p:nvSpPr>
        <p:spPr>
          <a:xfrm>
            <a:off x="4572000" y="2286000"/>
            <a:ext cx="3017520" cy="27432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File: backend/fmb_parser.py</a:t>
            </a:r>
            <a:endParaRPr lang="en-US" sz="1000" dirty="0"/>
          </a:p>
        </p:txBody>
      </p:sp>
      <p:sp>
        <p:nvSpPr>
          <p:cNvPr id="16" name="Text 14"/>
          <p:cNvSpPr/>
          <p:nvPr/>
        </p:nvSpPr>
        <p:spPr>
          <a:xfrm>
            <a:off x="4572000" y="2651760"/>
            <a:ext cx="301752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G-Line Baseline: Orients baseline of length L along azimuth angle theta from origin (x0, y0).</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Coordinate Triangulation for offset i at distance d_i with offset o_i:</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xi = x0 + d_i cos(theta) - o_i sin(theta)</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yi = y0 + d_i sin(theta) + o_i cos(theta)</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Shoelace Polygon Closure: Computes ground-truth FMB area: A = 0.5 x |Sum(x_i y_{i+1} - x_{i+1} y_i)|</a:t>
            </a:r>
            <a:endParaRPr lang="en-US" sz="1050" dirty="0"/>
          </a:p>
        </p:txBody>
      </p:sp>
      <p:sp>
        <p:nvSpPr>
          <p:cNvPr id="17" name="Shape 15"/>
          <p:cNvSpPr/>
          <p:nvPr/>
        </p:nvSpPr>
        <p:spPr>
          <a:xfrm>
            <a:off x="8046720" y="1325880"/>
            <a:ext cx="3383280" cy="4754880"/>
          </a:xfrm>
          <a:prstGeom prst="rect">
            <a:avLst>
              <a:gd name="adj" fmla="val 2162"/>
            </a:avLst>
          </a:prstGeom>
          <a:solidFill>
            <a:srgbClr val="1C2541"/>
          </a:solidFill>
          <a:ln w="25400">
            <a:solidFill>
              <a:srgbClr val="F59E0B"/>
            </a:solidFill>
            <a:prstDash val="solid"/>
          </a:ln>
        </p:spPr>
      </p:sp>
      <p:sp>
        <p:nvSpPr>
          <p:cNvPr id="18" name="Text 16"/>
          <p:cNvSpPr/>
          <p:nvPr/>
        </p:nvSpPr>
        <p:spPr>
          <a:xfrm>
            <a:off x="8229600" y="1463040"/>
            <a:ext cx="301752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ENGINE 3</a:t>
            </a:r>
            <a:endParaRPr lang="en-US" sz="1100" dirty="0"/>
          </a:p>
        </p:txBody>
      </p:sp>
      <p:sp>
        <p:nvSpPr>
          <p:cNvPr id="19" name="Text 17"/>
          <p:cNvSpPr/>
          <p:nvPr/>
        </p:nvSpPr>
        <p:spPr>
          <a:xfrm>
            <a:off x="8229600" y="1737360"/>
            <a:ext cx="3017520" cy="5486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Spatial Cadastral Reconciler</a:t>
            </a:r>
            <a:endParaRPr lang="en-US" sz="1400" dirty="0"/>
          </a:p>
        </p:txBody>
      </p:sp>
      <p:sp>
        <p:nvSpPr>
          <p:cNvPr id="20" name="Text 18"/>
          <p:cNvSpPr/>
          <p:nvPr/>
        </p:nvSpPr>
        <p:spPr>
          <a:xfrm>
            <a:off x="8229600" y="2286000"/>
            <a:ext cx="3017520" cy="27432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File: backend/spatial_engine.py</a:t>
            </a:r>
            <a:endParaRPr lang="en-US" sz="1000" dirty="0"/>
          </a:p>
        </p:txBody>
      </p:sp>
      <p:sp>
        <p:nvSpPr>
          <p:cNvPr id="21" name="Text 19"/>
          <p:cNvSpPr/>
          <p:nvPr/>
        </p:nvSpPr>
        <p:spPr>
          <a:xfrm>
            <a:off x="8229600" y="2651760"/>
            <a:ext cx="301752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MultiPolygon Centroids: Recursive flattening of nested rings to prevent coordinate NaN drift.</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3-Way Variance Checking: Delta A% = |Area_Doc - Area_GIS| / Area_GIS x 100</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Permissible Margin: &lt;= 2.0% Clean | 2%-5% Moderate | &gt;5% Critical Flag</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Statutory Buffer Clipping: Shapely spatial intersection for 30m Waterbody and 15m Road RoW buffers.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DEEP-DIVE ENGINES 4-6</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Core Engines: Terrain Inundation, Risk Scoring &amp; Ingestion</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sp>
        <p:nvSpPr>
          <p:cNvPr id="7" name="Shape 5"/>
          <p:cNvSpPr/>
          <p:nvPr/>
        </p:nvSpPr>
        <p:spPr>
          <a:xfrm>
            <a:off x="731520" y="1325880"/>
            <a:ext cx="3383280" cy="4754880"/>
          </a:xfrm>
          <a:prstGeom prst="rect">
            <a:avLst>
              <a:gd name="adj" fmla="val 2162"/>
            </a:avLst>
          </a:prstGeom>
          <a:solidFill>
            <a:srgbClr val="1C2541"/>
          </a:solidFill>
          <a:ln w="25400">
            <a:solidFill>
              <a:srgbClr val="0EA5E9"/>
            </a:solidFill>
            <a:prstDash val="solid"/>
          </a:ln>
        </p:spPr>
      </p:sp>
      <p:sp>
        <p:nvSpPr>
          <p:cNvPr id="8" name="Text 6"/>
          <p:cNvSpPr/>
          <p:nvPr/>
        </p:nvSpPr>
        <p:spPr>
          <a:xfrm>
            <a:off x="914400" y="1463040"/>
            <a:ext cx="3017520" cy="274320"/>
          </a:xfrm>
          <a:prstGeom prst="rect">
            <a:avLst/>
          </a:prstGeom>
          <a:noFill/>
          <a:ln/>
        </p:spPr>
        <p:txBody>
          <a:bodyPr wrap="square" rtlCol="0" anchor="ctr"/>
          <a:lstStyle/>
          <a:p>
            <a:pPr indent="0" marL="0">
              <a:buNone/>
            </a:pPr>
            <a:r>
              <a:rPr lang="en-US" sz="1100" b="1" dirty="0">
                <a:solidFill>
                  <a:srgbClr val="0EA5E9"/>
                </a:solidFill>
                <a:latin typeface="Arial" pitchFamily="34" charset="0"/>
                <a:ea typeface="Arial" pitchFamily="34" charset="-122"/>
                <a:cs typeface="Arial" pitchFamily="34" charset="-120"/>
              </a:rPr>
              <a:t>ENGINE 4</a:t>
            </a:r>
            <a:endParaRPr lang="en-US" sz="1100" dirty="0"/>
          </a:p>
        </p:txBody>
      </p:sp>
      <p:sp>
        <p:nvSpPr>
          <p:cNvPr id="9" name="Text 7"/>
          <p:cNvSpPr/>
          <p:nvPr/>
        </p:nvSpPr>
        <p:spPr>
          <a:xfrm>
            <a:off x="914400" y="1737360"/>
            <a:ext cx="3017520" cy="5486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Raster DEM &amp; Terrain Inundation</a:t>
            </a:r>
            <a:endParaRPr lang="en-US" sz="1400" dirty="0"/>
          </a:p>
        </p:txBody>
      </p:sp>
      <p:sp>
        <p:nvSpPr>
          <p:cNvPr id="10" name="Text 8"/>
          <p:cNvSpPr/>
          <p:nvPr/>
        </p:nvSpPr>
        <p:spPr>
          <a:xfrm>
            <a:off x="914400" y="2286000"/>
            <a:ext cx="3017520" cy="27432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File: backend/terrain_engine.py</a:t>
            </a:r>
            <a:endParaRPr lang="en-US" sz="1000" dirty="0"/>
          </a:p>
        </p:txBody>
      </p:sp>
      <p:sp>
        <p:nvSpPr>
          <p:cNvPr id="11" name="Text 9"/>
          <p:cNvSpPr/>
          <p:nvPr/>
        </p:nvSpPr>
        <p:spPr>
          <a:xfrm>
            <a:off x="914400" y="2651760"/>
            <a:ext cx="301752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Elevation Extraction: Samples Copernicus / SRTM 30m Digital Elevation Models at parcel centroid.</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Slope Gradient Calculation: Slope % = (Delta Elevation / Delta Horizontal Run) x 100</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Hydrological Modeling: Compares against regional flood baseline (10m MSL):</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 Elevation &lt; 12m &amp; Slope &lt; 1%: High Inundation Risk (Monsoon waterlogging)</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 Elevation 12m-20m: Moderate Risk | &gt;20m: Safe</a:t>
            </a:r>
            <a:endParaRPr lang="en-US" sz="1050" dirty="0"/>
          </a:p>
        </p:txBody>
      </p:sp>
      <p:sp>
        <p:nvSpPr>
          <p:cNvPr id="12" name="Shape 10"/>
          <p:cNvSpPr/>
          <p:nvPr/>
        </p:nvSpPr>
        <p:spPr>
          <a:xfrm>
            <a:off x="4389120" y="1325880"/>
            <a:ext cx="3383280" cy="4754880"/>
          </a:xfrm>
          <a:prstGeom prst="rect">
            <a:avLst>
              <a:gd name="adj" fmla="val 2162"/>
            </a:avLst>
          </a:prstGeom>
          <a:solidFill>
            <a:srgbClr val="1C2541"/>
          </a:solidFill>
          <a:ln w="25400">
            <a:solidFill>
              <a:srgbClr val="EF4444"/>
            </a:solidFill>
            <a:prstDash val="solid"/>
          </a:ln>
        </p:spPr>
      </p:sp>
      <p:sp>
        <p:nvSpPr>
          <p:cNvPr id="13" name="Text 11"/>
          <p:cNvSpPr/>
          <p:nvPr/>
        </p:nvSpPr>
        <p:spPr>
          <a:xfrm>
            <a:off x="4572000" y="1463040"/>
            <a:ext cx="3017520" cy="274320"/>
          </a:xfrm>
          <a:prstGeom prst="rect">
            <a:avLst/>
          </a:prstGeom>
          <a:noFill/>
          <a:ln/>
        </p:spPr>
        <p:txBody>
          <a:bodyPr wrap="square" rtlCol="0" anchor="ctr"/>
          <a:lstStyle/>
          <a:p>
            <a:pPr indent="0" marL="0">
              <a:buNone/>
            </a:pPr>
            <a:r>
              <a:rPr lang="en-US" sz="1100" b="1" dirty="0">
                <a:solidFill>
                  <a:srgbClr val="EF4444"/>
                </a:solidFill>
                <a:latin typeface="Arial" pitchFamily="34" charset="0"/>
                <a:ea typeface="Arial" pitchFamily="34" charset="-122"/>
                <a:cs typeface="Arial" pitchFamily="34" charset="-120"/>
              </a:rPr>
              <a:t>ENGINE 5</a:t>
            </a:r>
            <a:endParaRPr lang="en-US" sz="1100" dirty="0"/>
          </a:p>
        </p:txBody>
      </p:sp>
      <p:sp>
        <p:nvSpPr>
          <p:cNvPr id="14" name="Text 12"/>
          <p:cNvSpPr/>
          <p:nvPr/>
        </p:nvSpPr>
        <p:spPr>
          <a:xfrm>
            <a:off x="4572000" y="1737360"/>
            <a:ext cx="3017520" cy="5486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Title Integrity Risk Scorer</a:t>
            </a:r>
            <a:endParaRPr lang="en-US" sz="1400" dirty="0"/>
          </a:p>
        </p:txBody>
      </p:sp>
      <p:sp>
        <p:nvSpPr>
          <p:cNvPr id="15" name="Text 13"/>
          <p:cNvSpPr/>
          <p:nvPr/>
        </p:nvSpPr>
        <p:spPr>
          <a:xfrm>
            <a:off x="4572000" y="2286000"/>
            <a:ext cx="3017520" cy="27432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File: backend/risk_analyzer.py</a:t>
            </a:r>
            <a:endParaRPr lang="en-US" sz="1000" dirty="0"/>
          </a:p>
        </p:txBody>
      </p:sp>
      <p:sp>
        <p:nvSpPr>
          <p:cNvPr id="16" name="Text 14"/>
          <p:cNvSpPr/>
          <p:nvPr/>
        </p:nvSpPr>
        <p:spPr>
          <a:xfrm>
            <a:off x="4572000" y="2651760"/>
            <a:ext cx="301752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Base Score: 100 points maximum.</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Deduction Formula: Score = 100 - P_area - P_water - P_road - P_fmb - P_terrain</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Statutory Tiers:</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Tier 1 (85-100): Low Risk / Clean Title for bank lending</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Tier 2 (60-84): Moderate Risk / Requires Sub-Registrar Audit</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Tier 3 (0-59): Critical Risk / Title Rejected</a:t>
            </a:r>
            <a:endParaRPr lang="en-US" sz="1050" dirty="0"/>
          </a:p>
        </p:txBody>
      </p:sp>
      <p:sp>
        <p:nvSpPr>
          <p:cNvPr id="17" name="Shape 15"/>
          <p:cNvSpPr/>
          <p:nvPr/>
        </p:nvSpPr>
        <p:spPr>
          <a:xfrm>
            <a:off x="8046720" y="1325880"/>
            <a:ext cx="3383280" cy="4754880"/>
          </a:xfrm>
          <a:prstGeom prst="rect">
            <a:avLst>
              <a:gd name="adj" fmla="val 2162"/>
            </a:avLst>
          </a:prstGeom>
          <a:solidFill>
            <a:srgbClr val="1C2541"/>
          </a:solidFill>
          <a:ln w="25400">
            <a:solidFill>
              <a:srgbClr val="10B981"/>
            </a:solidFill>
            <a:prstDash val="solid"/>
          </a:ln>
        </p:spPr>
      </p:sp>
      <p:sp>
        <p:nvSpPr>
          <p:cNvPr id="18" name="Text 16"/>
          <p:cNvSpPr/>
          <p:nvPr/>
        </p:nvSpPr>
        <p:spPr>
          <a:xfrm>
            <a:off x="8229600" y="1463040"/>
            <a:ext cx="301752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ENGINE 6</a:t>
            </a:r>
            <a:endParaRPr lang="en-US" sz="1100" dirty="0"/>
          </a:p>
        </p:txBody>
      </p:sp>
      <p:sp>
        <p:nvSpPr>
          <p:cNvPr id="19" name="Text 17"/>
          <p:cNvSpPr/>
          <p:nvPr/>
        </p:nvSpPr>
        <p:spPr>
          <a:xfrm>
            <a:off x="8229600" y="1737360"/>
            <a:ext cx="3017520" cy="5486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Large Dataset Streaming Pipeline</a:t>
            </a:r>
            <a:endParaRPr lang="en-US" sz="1400" dirty="0"/>
          </a:p>
        </p:txBody>
      </p:sp>
      <p:sp>
        <p:nvSpPr>
          <p:cNvPr id="20" name="Text 18"/>
          <p:cNvSpPr/>
          <p:nvPr/>
        </p:nvSpPr>
        <p:spPr>
          <a:xfrm>
            <a:off x="8229600" y="2286000"/>
            <a:ext cx="3017520" cy="274320"/>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File: backend/batch_ingestion.py</a:t>
            </a:r>
            <a:endParaRPr lang="en-US" sz="1000" dirty="0"/>
          </a:p>
        </p:txBody>
      </p:sp>
      <p:sp>
        <p:nvSpPr>
          <p:cNvPr id="21" name="Text 19"/>
          <p:cNvSpPr/>
          <p:nvPr/>
        </p:nvSpPr>
        <p:spPr>
          <a:xfrm>
            <a:off x="8229600" y="2651760"/>
            <a:ext cx="3017520" cy="329184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 500MB+ Ingestion: Overcomes browser memory bottlenecks through chunked 8MB disk streaming.</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Concurrent Scanning: Recursively parses unstructured folder structures containing PDFs, TIFFs, and GeoJSONs.</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Deduplication Engine: SHA-256 file hashing ensures zero duplicate audit records.</a:t>
            </a:r>
            <a:endParaRPr lang="en-US" sz="1050" dirty="0"/>
          </a:p>
          <a:p>
            <a:pPr indent="0" marL="0">
              <a:buNone/>
            </a:pPr>
            <a:endParaRPr lang="en-US" sz="1050" dirty="0"/>
          </a:p>
          <a:p>
            <a:pPr indent="0" marL="0">
              <a:buNone/>
            </a:pPr>
            <a:r>
              <a:rPr lang="en-US" sz="1050" dirty="0">
                <a:solidFill>
                  <a:srgbClr val="F8FAFC"/>
                </a:solidFill>
                <a:latin typeface="Arial" pitchFamily="34" charset="0"/>
                <a:ea typeface="Arial" pitchFamily="34" charset="-122"/>
                <a:cs typeface="Arial" pitchFamily="34" charset="-120"/>
              </a:rPr>
              <a:t>• Progressive Loading: Streams parcels dynamically into Leaflet map without UI freeze.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RISK QUANTIFICATION</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Mathematical Risk Penalty Matrix (0–100)</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3108960"/>
        </p:xfrm>
        <a:graphic>
          <a:graphicData uri="http://schemas.openxmlformats.org/drawingml/2006/table">
            <a:tbl>
              <a:tblPr/>
              <a:tblGrid>
                <a:gridCol w="2674620"/>
                <a:gridCol w="2674620"/>
                <a:gridCol w="2674620"/>
                <a:gridCol w="2674620"/>
              </a:tblGrid>
              <a:tr h="444137">
                <a:tc>
                  <a:txBody>
                    <a:bodyPr/>
                    <a:lstStyle/>
                    <a:p>
                      <a:pPr indent="0" marL="0">
                        <a:buNone/>
                      </a:pPr>
                      <a:r>
                        <a:rPr lang="en-US" sz="1000" b="1" dirty="0">
                          <a:solidFill>
                            <a:srgbClr val="0EA5E9"/>
                          </a:solidFill>
                          <a:latin typeface="Arial" pitchFamily="34" charset="0"/>
                          <a:ea typeface="Arial" pitchFamily="34" charset="-122"/>
                          <a:cs typeface="Arial" pitchFamily="34" charset="-120"/>
                        </a:rPr>
                        <a:t>Parameter</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c>
                  <a:txBody>
                    <a:bodyPr/>
                    <a:lstStyle/>
                    <a:p>
                      <a:pPr indent="0" marL="0">
                        <a:buNone/>
                      </a:pPr>
                      <a:r>
                        <a:rPr lang="en-US" sz="1000" b="1" dirty="0">
                          <a:solidFill>
                            <a:srgbClr val="0EA5E9"/>
                          </a:solidFill>
                          <a:latin typeface="Arial" pitchFamily="34" charset="0"/>
                          <a:ea typeface="Arial" pitchFamily="34" charset="-122"/>
                          <a:cs typeface="Arial" pitchFamily="34" charset="-120"/>
                        </a:rPr>
                        <a:t>Trigger Condition</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c>
                  <a:txBody>
                    <a:bodyPr/>
                    <a:lstStyle/>
                    <a:p>
                      <a:pPr indent="0" marL="0">
                        <a:buNone/>
                      </a:pPr>
                      <a:r>
                        <a:rPr lang="en-US" sz="1000" b="1" dirty="0">
                          <a:solidFill>
                            <a:srgbClr val="0EA5E9"/>
                          </a:solidFill>
                          <a:latin typeface="Arial" pitchFamily="34" charset="0"/>
                          <a:ea typeface="Arial" pitchFamily="34" charset="-122"/>
                          <a:cs typeface="Arial" pitchFamily="34" charset="-120"/>
                        </a:rPr>
                        <a:t>Deduction</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c>
                  <a:txBody>
                    <a:bodyPr/>
                    <a:lstStyle/>
                    <a:p>
                      <a:pPr indent="0" marL="0">
                        <a:buNone/>
                      </a:pPr>
                      <a:r>
                        <a:rPr lang="en-US" sz="1000" b="1" dirty="0">
                          <a:solidFill>
                            <a:srgbClr val="0EA5E9"/>
                          </a:solidFill>
                          <a:latin typeface="Arial" pitchFamily="34" charset="0"/>
                          <a:ea typeface="Arial" pitchFamily="34" charset="-122"/>
                          <a:cs typeface="Arial" pitchFamily="34" charset="-120"/>
                        </a:rPr>
                        <a:t>Statutory Rationale</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r>
              <a:tr h="444137">
                <a:tc>
                  <a:txBody>
                    <a:bodyPr/>
                    <a:lstStyle/>
                    <a:p>
                      <a:pPr indent="0" marL="0">
                        <a:buNone/>
                      </a:pPr>
                      <a:r>
                        <a:rPr lang="en-US" sz="1000" b="1" dirty="0">
                          <a:solidFill>
                            <a:srgbClr val="F8FAFC"/>
                          </a:solidFill>
                          <a:latin typeface="Arial" pitchFamily="34" charset="0"/>
                          <a:ea typeface="Arial" pitchFamily="34" charset="-122"/>
                          <a:cs typeface="Arial" pitchFamily="34" charset="-120"/>
                        </a:rPr>
                        <a:t>Area Variance (P_area)</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Delta A% &gt; 5.0% discrepancy</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b="1" dirty="0">
                          <a:solidFill>
                            <a:srgbClr val="EF4444"/>
                          </a:solidFill>
                          <a:latin typeface="Arial" pitchFamily="34" charset="0"/>
                          <a:ea typeface="Arial" pitchFamily="34" charset="-122"/>
                          <a:cs typeface="Arial" pitchFamily="34" charset="-120"/>
                        </a:rPr>
                        <a:t>-25 Points</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94A3B8"/>
                          </a:solidFill>
                          <a:latin typeface="Arial" pitchFamily="34" charset="0"/>
                          <a:ea typeface="Arial" pitchFamily="34" charset="-122"/>
                          <a:cs typeface="Arial" pitchFamily="34" charset="-120"/>
                        </a:rPr>
                        <a:t>Severe discrepancy between document claim and GIS boundary.</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444137">
                <a:tc>
                  <a:txBody>
                    <a:bodyPr/>
                    <a:lstStyle/>
                    <a:p>
                      <a:pPr indent="0" marL="0">
                        <a:buNone/>
                      </a:pPr>
                      <a:r>
                        <a:rPr lang="en-US" sz="1000" b="1" dirty="0">
                          <a:solidFill>
                            <a:srgbClr val="F8FAFC"/>
                          </a:solidFill>
                          <a:latin typeface="Arial" pitchFamily="34" charset="0"/>
                          <a:ea typeface="Arial" pitchFamily="34" charset="-122"/>
                          <a:cs typeface="Arial" pitchFamily="34" charset="-120"/>
                        </a:rPr>
                        <a:t>Area Variance (P_area)</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2.0% &lt; Delta A% &lt;= 5.0%</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b="1" dirty="0">
                          <a:solidFill>
                            <a:srgbClr val="F59E0B"/>
                          </a:solidFill>
                          <a:latin typeface="Arial" pitchFamily="34" charset="0"/>
                          <a:ea typeface="Arial" pitchFamily="34" charset="-122"/>
                          <a:cs typeface="Arial" pitchFamily="34" charset="-120"/>
                        </a:rPr>
                        <a:t>-10 Points</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94A3B8"/>
                          </a:solidFill>
                          <a:latin typeface="Arial" pitchFamily="34" charset="0"/>
                          <a:ea typeface="Arial" pitchFamily="34" charset="-122"/>
                          <a:cs typeface="Arial" pitchFamily="34" charset="-120"/>
                        </a:rPr>
                        <a:t>Moderate variance requiring physical re-survey audit.</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444137">
                <a:tc>
                  <a:txBody>
                    <a:bodyPr/>
                    <a:lstStyle/>
                    <a:p>
                      <a:pPr indent="0" marL="0">
                        <a:buNone/>
                      </a:pPr>
                      <a:r>
                        <a:rPr lang="en-US" sz="1000" b="1" dirty="0">
                          <a:solidFill>
                            <a:srgbClr val="F8FAFC"/>
                          </a:solidFill>
                          <a:latin typeface="Arial" pitchFamily="34" charset="0"/>
                          <a:ea typeface="Arial" pitchFamily="34" charset="-122"/>
                          <a:cs typeface="Arial" pitchFamily="34" charset="-120"/>
                        </a:rPr>
                        <a:t>Waterbody Buffer (P_water)</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Encroaches within 30m buffer</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b="1" dirty="0">
                          <a:solidFill>
                            <a:srgbClr val="EF4444"/>
                          </a:solidFill>
                          <a:latin typeface="Arial" pitchFamily="34" charset="0"/>
                          <a:ea typeface="Arial" pitchFamily="34" charset="-122"/>
                          <a:cs typeface="Arial" pitchFamily="34" charset="-120"/>
                        </a:rPr>
                        <a:t>-35 Points</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94A3B8"/>
                          </a:solidFill>
                          <a:latin typeface="Arial" pitchFamily="34" charset="0"/>
                          <a:ea typeface="Arial" pitchFamily="34" charset="-122"/>
                          <a:cs typeface="Arial" pitchFamily="34" charset="-120"/>
                        </a:rPr>
                        <a:t>Mandatory non-development zone under Supreme Court &amp; NGT orders.</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444137">
                <a:tc>
                  <a:txBody>
                    <a:bodyPr/>
                    <a:lstStyle/>
                    <a:p>
                      <a:pPr indent="0" marL="0">
                        <a:buNone/>
                      </a:pPr>
                      <a:r>
                        <a:rPr lang="en-US" sz="1000" b="1" dirty="0">
                          <a:solidFill>
                            <a:srgbClr val="F8FAFC"/>
                          </a:solidFill>
                          <a:latin typeface="Arial" pitchFamily="34" charset="0"/>
                          <a:ea typeface="Arial" pitchFamily="34" charset="-122"/>
                          <a:cs typeface="Arial" pitchFamily="34" charset="-120"/>
                        </a:rPr>
                        <a:t>Road RoW Corridor (P_road)</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Encroaches within 15m RoW</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b="1" dirty="0">
                          <a:solidFill>
                            <a:srgbClr val="F59E0B"/>
                          </a:solidFill>
                          <a:latin typeface="Arial" pitchFamily="34" charset="0"/>
                          <a:ea typeface="Arial" pitchFamily="34" charset="-122"/>
                          <a:cs typeface="Arial" pitchFamily="34" charset="-120"/>
                        </a:rPr>
                        <a:t>-15 Points</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94A3B8"/>
                          </a:solidFill>
                          <a:latin typeface="Arial" pitchFamily="34" charset="0"/>
                          <a:ea typeface="Arial" pitchFamily="34" charset="-122"/>
                          <a:cs typeface="Arial" pitchFamily="34" charset="-120"/>
                        </a:rPr>
                        <a:t>Highway expansion corridor violation / setback infringement.</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444137">
                <a:tc>
                  <a:txBody>
                    <a:bodyPr/>
                    <a:lstStyle/>
                    <a:p>
                      <a:pPr indent="0" marL="0">
                        <a:buNone/>
                      </a:pPr>
                      <a:r>
                        <a:rPr lang="en-US" sz="1000" b="1" dirty="0">
                          <a:solidFill>
                            <a:srgbClr val="F8FAFC"/>
                          </a:solidFill>
                          <a:latin typeface="Arial" pitchFamily="34" charset="0"/>
                          <a:ea typeface="Arial" pitchFamily="34" charset="-122"/>
                          <a:cs typeface="Arial" pitchFamily="34" charset="-120"/>
                        </a:rPr>
                        <a:t>FMB Boundary Skew (P_fmb)</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FMB vs. Cadastral shape mismatch</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b="1" dirty="0">
                          <a:solidFill>
                            <a:srgbClr val="F59E0B"/>
                          </a:solidFill>
                          <a:latin typeface="Arial" pitchFamily="34" charset="0"/>
                          <a:ea typeface="Arial" pitchFamily="34" charset="-122"/>
                          <a:cs typeface="Arial" pitchFamily="34" charset="-120"/>
                        </a:rPr>
                        <a:t>-15 Points</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94A3B8"/>
                          </a:solidFill>
                          <a:latin typeface="Arial" pitchFamily="34" charset="0"/>
                          <a:ea typeface="Arial" pitchFamily="34" charset="-122"/>
                          <a:cs typeface="Arial" pitchFamily="34" charset="-120"/>
                        </a:rPr>
                        <a:t>Physical boundary ladder does not close onto cadastral map.</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444137">
                <a:tc>
                  <a:txBody>
                    <a:bodyPr/>
                    <a:lstStyle/>
                    <a:p>
                      <a:pPr indent="0" marL="0">
                        <a:buNone/>
                      </a:pPr>
                      <a:r>
                        <a:rPr lang="en-US" sz="1000" b="1" dirty="0">
                          <a:solidFill>
                            <a:srgbClr val="F8FAFC"/>
                          </a:solidFill>
                          <a:latin typeface="Arial" pitchFamily="34" charset="0"/>
                          <a:ea typeface="Arial" pitchFamily="34" charset="-122"/>
                          <a:cs typeface="Arial" pitchFamily="34" charset="-120"/>
                        </a:rPr>
                        <a:t>Flood Vulnerability (P_terrain)</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F8FAFC"/>
                          </a:solidFill>
                          <a:latin typeface="Arial" pitchFamily="34" charset="0"/>
                          <a:ea typeface="Arial" pitchFamily="34" charset="-122"/>
                          <a:cs typeface="Arial" pitchFamily="34" charset="-120"/>
                        </a:rPr>
                        <a:t>Elevation &lt; 12m MSL &amp; slope &lt; 1%</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b="1" dirty="0">
                          <a:solidFill>
                            <a:srgbClr val="0EA5E9"/>
                          </a:solidFill>
                          <a:latin typeface="Arial" pitchFamily="34" charset="0"/>
                          <a:ea typeface="Arial" pitchFamily="34" charset="-122"/>
                          <a:cs typeface="Arial" pitchFamily="34" charset="-120"/>
                        </a:rPr>
                        <a:t>-10 Points</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00" dirty="0">
                          <a:solidFill>
                            <a:srgbClr val="94A3B8"/>
                          </a:solidFill>
                          <a:latin typeface="Arial" pitchFamily="34" charset="0"/>
                          <a:ea typeface="Arial" pitchFamily="34" charset="-122"/>
                          <a:cs typeface="Arial" pitchFamily="34" charset="-120"/>
                        </a:rPr>
                        <a:t>Hydrological depression prone to severe monsoon inundation.</a:t>
                      </a:r>
                      <a:endParaRPr lang="en-US" sz="100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bl>
          </a:graphicData>
        </a:graphic>
      </p:graphicFrame>
      <p:sp>
        <p:nvSpPr>
          <p:cNvPr id="8" name="Shape 5"/>
          <p:cNvSpPr/>
          <p:nvPr/>
        </p:nvSpPr>
        <p:spPr>
          <a:xfrm>
            <a:off x="731520" y="4663440"/>
            <a:ext cx="3383280" cy="1463040"/>
          </a:xfrm>
          <a:prstGeom prst="rect">
            <a:avLst>
              <a:gd name="adj" fmla="val 5000"/>
            </a:avLst>
          </a:prstGeom>
          <a:solidFill>
            <a:srgbClr val="1C2541"/>
          </a:solidFill>
          <a:ln w="25400">
            <a:solidFill>
              <a:srgbClr val="10B981"/>
            </a:solidFill>
            <a:prstDash val="solid"/>
          </a:ln>
        </p:spPr>
      </p:sp>
      <p:sp>
        <p:nvSpPr>
          <p:cNvPr id="9" name="Text 6"/>
          <p:cNvSpPr/>
          <p:nvPr/>
        </p:nvSpPr>
        <p:spPr>
          <a:xfrm>
            <a:off x="914400" y="4800600"/>
            <a:ext cx="301752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TIER 1 (85–100)</a:t>
            </a:r>
            <a:endParaRPr lang="en-US" sz="1300" dirty="0"/>
          </a:p>
        </p:txBody>
      </p:sp>
      <p:sp>
        <p:nvSpPr>
          <p:cNvPr id="10" name="Text 7"/>
          <p:cNvSpPr/>
          <p:nvPr/>
        </p:nvSpPr>
        <p:spPr>
          <a:xfrm>
            <a:off x="914400" y="5166360"/>
            <a:ext cx="3017520" cy="868680"/>
          </a:xfrm>
          <a:prstGeom prst="rect">
            <a:avLst/>
          </a:prstGeom>
          <a:noFill/>
          <a:ln/>
        </p:spPr>
        <p:txBody>
          <a:bodyPr wrap="square" rtlCol="0" anchor="ctr"/>
          <a:lstStyle/>
          <a:p>
            <a:pPr indent="0" marL="0">
              <a:buNone/>
            </a:pPr>
            <a:r>
              <a:rPr lang="en-US" sz="1000" dirty="0">
                <a:solidFill>
                  <a:srgbClr val="F8FAFC"/>
                </a:solidFill>
                <a:latin typeface="Arial" pitchFamily="34" charset="0"/>
                <a:ea typeface="Arial" pitchFamily="34" charset="-122"/>
                <a:cs typeface="Arial" pitchFamily="34" charset="-120"/>
              </a:rPr>
              <a:t>LOW RISK / CLEAN TITLE</a:t>
            </a:r>
            <a:endParaRPr lang="en-US" sz="1000" dirty="0"/>
          </a:p>
          <a:p>
            <a:pPr indent="0" marL="0">
              <a:buNone/>
            </a:pPr>
            <a:r>
              <a:rPr lang="en-US" sz="1000" dirty="0">
                <a:solidFill>
                  <a:srgbClr val="F8FAFC"/>
                </a:solidFill>
                <a:latin typeface="Arial" pitchFamily="34" charset="0"/>
                <a:ea typeface="Arial" pitchFamily="34" charset="-122"/>
                <a:cs typeface="Arial" pitchFamily="34" charset="-120"/>
              </a:rPr>
              <a:t>Passed all statutory checks. Recommended for bank lending, solar farm lease, or purchase.</a:t>
            </a:r>
            <a:endParaRPr lang="en-US" sz="1000" dirty="0"/>
          </a:p>
        </p:txBody>
      </p:sp>
      <p:sp>
        <p:nvSpPr>
          <p:cNvPr id="11" name="Shape 8"/>
          <p:cNvSpPr/>
          <p:nvPr/>
        </p:nvSpPr>
        <p:spPr>
          <a:xfrm>
            <a:off x="4389120" y="4663440"/>
            <a:ext cx="3383280" cy="1463040"/>
          </a:xfrm>
          <a:prstGeom prst="rect">
            <a:avLst>
              <a:gd name="adj" fmla="val 5000"/>
            </a:avLst>
          </a:prstGeom>
          <a:solidFill>
            <a:srgbClr val="1C2541"/>
          </a:solidFill>
          <a:ln w="25400">
            <a:solidFill>
              <a:srgbClr val="F59E0B"/>
            </a:solidFill>
            <a:prstDash val="solid"/>
          </a:ln>
        </p:spPr>
      </p:sp>
      <p:sp>
        <p:nvSpPr>
          <p:cNvPr id="12" name="Text 9"/>
          <p:cNvSpPr/>
          <p:nvPr/>
        </p:nvSpPr>
        <p:spPr>
          <a:xfrm>
            <a:off x="4572000" y="4800600"/>
            <a:ext cx="3017520" cy="3200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TIER 2 (60–84)</a:t>
            </a:r>
            <a:endParaRPr lang="en-US" sz="1300" dirty="0"/>
          </a:p>
        </p:txBody>
      </p:sp>
      <p:sp>
        <p:nvSpPr>
          <p:cNvPr id="13" name="Text 10"/>
          <p:cNvSpPr/>
          <p:nvPr/>
        </p:nvSpPr>
        <p:spPr>
          <a:xfrm>
            <a:off x="4572000" y="5166360"/>
            <a:ext cx="3017520" cy="868680"/>
          </a:xfrm>
          <a:prstGeom prst="rect">
            <a:avLst/>
          </a:prstGeom>
          <a:noFill/>
          <a:ln/>
        </p:spPr>
        <p:txBody>
          <a:bodyPr wrap="square" rtlCol="0" anchor="ctr"/>
          <a:lstStyle/>
          <a:p>
            <a:pPr indent="0" marL="0">
              <a:buNone/>
            </a:pPr>
            <a:r>
              <a:rPr lang="en-US" sz="1000" dirty="0">
                <a:solidFill>
                  <a:srgbClr val="F8FAFC"/>
                </a:solidFill>
                <a:latin typeface="Arial" pitchFamily="34" charset="0"/>
                <a:ea typeface="Arial" pitchFamily="34" charset="-122"/>
                <a:cs typeface="Arial" pitchFamily="34" charset="-120"/>
              </a:rPr>
              <a:t>MODERATE RISK / CAUTION</a:t>
            </a:r>
            <a:endParaRPr lang="en-US" sz="1000" dirty="0"/>
          </a:p>
          <a:p>
            <a:pPr indent="0" marL="0">
              <a:buNone/>
            </a:pPr>
            <a:r>
              <a:rPr lang="en-US" sz="1000" dirty="0">
                <a:solidFill>
                  <a:srgbClr val="F8FAFC"/>
                </a:solidFill>
                <a:latin typeface="Arial" pitchFamily="34" charset="0"/>
                <a:ea typeface="Arial" pitchFamily="34" charset="-122"/>
                <a:cs typeface="Arial" pitchFamily="34" charset="-120"/>
              </a:rPr>
              <a:t>Minor boundary variance or setback warning. Requires physical surveyor verification.</a:t>
            </a:r>
            <a:endParaRPr lang="en-US" sz="1000" dirty="0"/>
          </a:p>
        </p:txBody>
      </p:sp>
      <p:sp>
        <p:nvSpPr>
          <p:cNvPr id="14" name="Shape 11"/>
          <p:cNvSpPr/>
          <p:nvPr/>
        </p:nvSpPr>
        <p:spPr>
          <a:xfrm>
            <a:off x="8046720" y="4663440"/>
            <a:ext cx="3383280" cy="1463040"/>
          </a:xfrm>
          <a:prstGeom prst="rect">
            <a:avLst>
              <a:gd name="adj" fmla="val 5000"/>
            </a:avLst>
          </a:prstGeom>
          <a:solidFill>
            <a:srgbClr val="1C2541"/>
          </a:solidFill>
          <a:ln w="25400">
            <a:solidFill>
              <a:srgbClr val="EF4444"/>
            </a:solidFill>
            <a:prstDash val="solid"/>
          </a:ln>
        </p:spPr>
      </p:sp>
      <p:sp>
        <p:nvSpPr>
          <p:cNvPr id="15" name="Text 12"/>
          <p:cNvSpPr/>
          <p:nvPr/>
        </p:nvSpPr>
        <p:spPr>
          <a:xfrm>
            <a:off x="8229600" y="4800600"/>
            <a:ext cx="3017520" cy="320040"/>
          </a:xfrm>
          <a:prstGeom prst="rect">
            <a:avLst/>
          </a:prstGeom>
          <a:noFill/>
          <a:ln/>
        </p:spPr>
        <p:txBody>
          <a:bodyPr wrap="square" rtlCol="0" anchor="ctr"/>
          <a:lstStyle/>
          <a:p>
            <a:pPr indent="0" marL="0">
              <a:buNone/>
            </a:pPr>
            <a:r>
              <a:rPr lang="en-US" sz="1300" b="1" dirty="0">
                <a:solidFill>
                  <a:srgbClr val="EF4444"/>
                </a:solidFill>
                <a:latin typeface="Arial" pitchFamily="34" charset="0"/>
                <a:ea typeface="Arial" pitchFamily="34" charset="-122"/>
                <a:cs typeface="Arial" pitchFamily="34" charset="-120"/>
              </a:rPr>
              <a:t>TIER 3 (0–59)</a:t>
            </a:r>
            <a:endParaRPr lang="en-US" sz="1300" dirty="0"/>
          </a:p>
        </p:txBody>
      </p:sp>
      <p:sp>
        <p:nvSpPr>
          <p:cNvPr id="16" name="Text 13"/>
          <p:cNvSpPr/>
          <p:nvPr/>
        </p:nvSpPr>
        <p:spPr>
          <a:xfrm>
            <a:off x="8229600" y="5166360"/>
            <a:ext cx="3017520" cy="868680"/>
          </a:xfrm>
          <a:prstGeom prst="rect">
            <a:avLst/>
          </a:prstGeom>
          <a:noFill/>
          <a:ln/>
        </p:spPr>
        <p:txBody>
          <a:bodyPr wrap="square" rtlCol="0" anchor="ctr"/>
          <a:lstStyle/>
          <a:p>
            <a:pPr indent="0" marL="0">
              <a:buNone/>
            </a:pPr>
            <a:r>
              <a:rPr lang="en-US" sz="1000" dirty="0">
                <a:solidFill>
                  <a:srgbClr val="F8FAFC"/>
                </a:solidFill>
                <a:latin typeface="Arial" pitchFamily="34" charset="0"/>
                <a:ea typeface="Arial" pitchFamily="34" charset="-122"/>
                <a:cs typeface="Arial" pitchFamily="34" charset="-120"/>
              </a:rPr>
              <a:t>CRITICAL RISK / REJECTED</a:t>
            </a:r>
            <a:endParaRPr lang="en-US" sz="1000" dirty="0"/>
          </a:p>
          <a:p>
            <a:pPr indent="0" marL="0">
              <a:buNone/>
            </a:pPr>
            <a:r>
              <a:rPr lang="en-US" sz="1000" dirty="0">
                <a:solidFill>
                  <a:srgbClr val="F8FAFC"/>
                </a:solidFill>
                <a:latin typeface="Arial" pitchFamily="34" charset="0"/>
                <a:ea typeface="Arial" pitchFamily="34" charset="-122"/>
                <a:cs typeface="Arial" pitchFamily="34" charset="-120"/>
              </a:rPr>
              <a:t>Illegal waterbody encroachment or severe area inflation. Immediate red flag.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EVALUATION &amp; BENCHMARKS</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Automated Pipeline Verification: 5 Benchmark Scenarios</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3200400"/>
        </p:xfrm>
        <a:graphic>
          <a:graphicData uri="http://schemas.openxmlformats.org/drawingml/2006/table">
            <a:tbl>
              <a:tblPr/>
              <a:tblGrid>
                <a:gridCol w="2139696"/>
                <a:gridCol w="2139696"/>
                <a:gridCol w="2139696"/>
                <a:gridCol w="2139696"/>
                <a:gridCol w="2139696"/>
              </a:tblGrid>
              <a:tr h="533400">
                <a:tc>
                  <a:txBody>
                    <a:bodyPr/>
                    <a:lstStyle/>
                    <a:p>
                      <a:pPr indent="0" marL="0">
                        <a:buNone/>
                      </a:pPr>
                      <a:r>
                        <a:rPr lang="en-US" sz="1050" b="1" dirty="0">
                          <a:solidFill>
                            <a:srgbClr val="0EA5E9"/>
                          </a:solidFill>
                          <a:latin typeface="Arial" pitchFamily="34" charset="0"/>
                          <a:ea typeface="Arial" pitchFamily="34" charset="-122"/>
                          <a:cs typeface="Arial" pitchFamily="34" charset="-120"/>
                        </a:rPr>
                        <a:t>Doc ID</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c>
                  <a:txBody>
                    <a:bodyPr/>
                    <a:lstStyle/>
                    <a:p>
                      <a:pPr indent="0" marL="0">
                        <a:buNone/>
                      </a:pPr>
                      <a:r>
                        <a:rPr lang="en-US" sz="1050" b="1" dirty="0">
                          <a:solidFill>
                            <a:srgbClr val="0EA5E9"/>
                          </a:solidFill>
                          <a:latin typeface="Arial" pitchFamily="34" charset="0"/>
                          <a:ea typeface="Arial" pitchFamily="34" charset="-122"/>
                          <a:cs typeface="Arial" pitchFamily="34" charset="-120"/>
                        </a:rPr>
                        <a:t>Survey No.</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c>
                  <a:txBody>
                    <a:bodyPr/>
                    <a:lstStyle/>
                    <a:p>
                      <a:pPr indent="0" marL="0">
                        <a:buNone/>
                      </a:pPr>
                      <a:r>
                        <a:rPr lang="en-US" sz="1050" b="1" dirty="0">
                          <a:solidFill>
                            <a:srgbClr val="0EA5E9"/>
                          </a:solidFill>
                          <a:latin typeface="Arial" pitchFamily="34" charset="0"/>
                          <a:ea typeface="Arial" pitchFamily="34" charset="-122"/>
                          <a:cs typeface="Arial" pitchFamily="34" charset="-120"/>
                        </a:rPr>
                        <a:t>Benchmark Scenario</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c>
                  <a:txBody>
                    <a:bodyPr/>
                    <a:lstStyle/>
                    <a:p>
                      <a:pPr indent="0" marL="0">
                        <a:buNone/>
                      </a:pPr>
                      <a:r>
                        <a:rPr lang="en-US" sz="1050" b="1" dirty="0">
                          <a:solidFill>
                            <a:srgbClr val="0EA5E9"/>
                          </a:solidFill>
                          <a:latin typeface="Arial" pitchFamily="34" charset="0"/>
                          <a:ea typeface="Arial" pitchFamily="34" charset="-122"/>
                          <a:cs typeface="Arial" pitchFamily="34" charset="-120"/>
                        </a:rPr>
                        <a:t>Calculated Variance / Violation</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c>
                  <a:txBody>
                    <a:bodyPr/>
                    <a:lstStyle/>
                    <a:p>
                      <a:pPr indent="0" marL="0">
                        <a:buNone/>
                      </a:pPr>
                      <a:r>
                        <a:rPr lang="en-US" sz="1050" b="1" dirty="0">
                          <a:solidFill>
                            <a:srgbClr val="0EA5E9"/>
                          </a:solidFill>
                          <a:latin typeface="Arial" pitchFamily="34" charset="0"/>
                          <a:ea typeface="Arial" pitchFamily="34" charset="-122"/>
                          <a:cs typeface="Arial" pitchFamily="34" charset="-120"/>
                        </a:rPr>
                        <a:t>Audit Verdict</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0A1128"/>
                    </a:solidFill>
                  </a:tcPr>
                </a:tc>
              </a:tr>
              <a:tr h="533400">
                <a:tc>
                  <a:txBody>
                    <a:bodyPr/>
                    <a:lstStyle/>
                    <a:p>
                      <a:pPr indent="0" marL="0">
                        <a:buNone/>
                      </a:pPr>
                      <a:r>
                        <a:rPr lang="en-US" sz="1050" b="1" dirty="0">
                          <a:solidFill>
                            <a:srgbClr val="F8FAFC"/>
                          </a:solidFill>
                          <a:latin typeface="Arial" pitchFamily="34" charset="0"/>
                          <a:ea typeface="Arial" pitchFamily="34" charset="-122"/>
                          <a:cs typeface="Arial" pitchFamily="34" charset="-120"/>
                        </a:rPr>
                        <a:t>DOC-SAMPLE-01</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102/1A</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Clean Title Benchmark</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94A3B8"/>
                          </a:solidFill>
                          <a:latin typeface="Arial" pitchFamily="34" charset="0"/>
                          <a:ea typeface="Arial" pitchFamily="34" charset="-122"/>
                          <a:cs typeface="Arial" pitchFamily="34" charset="-120"/>
                        </a:rPr>
                        <a:t>Delta A% = 0.8% (Permissible), 0 Encroachments</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b="1" dirty="0">
                          <a:solidFill>
                            <a:srgbClr val="10B981"/>
                          </a:solidFill>
                          <a:latin typeface="Arial" pitchFamily="34" charset="0"/>
                          <a:ea typeface="Arial" pitchFamily="34" charset="-122"/>
                          <a:cs typeface="Arial" pitchFamily="34" charset="-120"/>
                        </a:rPr>
                        <a:t>LOW RISK (Clean Title)</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533400">
                <a:tc>
                  <a:txBody>
                    <a:bodyPr/>
                    <a:lstStyle/>
                    <a:p>
                      <a:pPr indent="0" marL="0">
                        <a:buNone/>
                      </a:pPr>
                      <a:r>
                        <a:rPr lang="en-US" sz="1050" b="1" dirty="0">
                          <a:solidFill>
                            <a:srgbClr val="F8FAFC"/>
                          </a:solidFill>
                          <a:latin typeface="Arial" pitchFamily="34" charset="0"/>
                          <a:ea typeface="Arial" pitchFamily="34" charset="-122"/>
                          <a:cs typeface="Arial" pitchFamily="34" charset="-120"/>
                        </a:rPr>
                        <a:t>DOC-SAMPLE-02</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104/2B</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Severe Area Mismatch</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EF4444"/>
                          </a:solidFill>
                          <a:latin typeface="Arial" pitchFamily="34" charset="0"/>
                          <a:ea typeface="Arial" pitchFamily="34" charset="-122"/>
                          <a:cs typeface="Arial" pitchFamily="34" charset="-120"/>
                        </a:rPr>
                        <a:t>Claimed 4.5 Ac vs. GIS 3.1 Ac (Delta A% = +45%)</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b="1" dirty="0">
                          <a:solidFill>
                            <a:srgbClr val="EF4444"/>
                          </a:solidFill>
                          <a:latin typeface="Arial" pitchFamily="34" charset="0"/>
                          <a:ea typeface="Arial" pitchFamily="34" charset="-122"/>
                          <a:cs typeface="Arial" pitchFamily="34" charset="-120"/>
                        </a:rPr>
                        <a:t>CRITICAL DISCREPANCY</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533400">
                <a:tc>
                  <a:txBody>
                    <a:bodyPr/>
                    <a:lstStyle/>
                    <a:p>
                      <a:pPr indent="0" marL="0">
                        <a:buNone/>
                      </a:pPr>
                      <a:r>
                        <a:rPr lang="en-US" sz="1050" b="1" dirty="0">
                          <a:solidFill>
                            <a:srgbClr val="F8FAFC"/>
                          </a:solidFill>
                          <a:latin typeface="Arial" pitchFamily="34" charset="0"/>
                          <a:ea typeface="Arial" pitchFamily="34" charset="-122"/>
                          <a:cs typeface="Arial" pitchFamily="34" charset="-120"/>
                        </a:rPr>
                        <a:t>DOC-SAMPLE-03</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108/3</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Waterbody Encroachment</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EF4444"/>
                          </a:solidFill>
                          <a:latin typeface="Arial" pitchFamily="34" charset="0"/>
                          <a:ea typeface="Arial" pitchFamily="34" charset="-122"/>
                          <a:cs typeface="Arial" pitchFamily="34" charset="-120"/>
                        </a:rPr>
                        <a:t>Intersects 30m protected Kanmoi lake buffer</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b="1" dirty="0">
                          <a:solidFill>
                            <a:srgbClr val="EF4444"/>
                          </a:solidFill>
                          <a:latin typeface="Arial" pitchFamily="34" charset="0"/>
                          <a:ea typeface="Arial" pitchFamily="34" charset="-122"/>
                          <a:cs typeface="Arial" pitchFamily="34" charset="-120"/>
                        </a:rPr>
                        <a:t>CRITICAL / BUFFER BREACH</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533400">
                <a:tc>
                  <a:txBody>
                    <a:bodyPr/>
                    <a:lstStyle/>
                    <a:p>
                      <a:pPr indent="0" marL="0">
                        <a:buNone/>
                      </a:pPr>
                      <a:r>
                        <a:rPr lang="en-US" sz="1050" b="1" dirty="0">
                          <a:solidFill>
                            <a:srgbClr val="F8FAFC"/>
                          </a:solidFill>
                          <a:latin typeface="Arial" pitchFamily="34" charset="0"/>
                          <a:ea typeface="Arial" pitchFamily="34" charset="-122"/>
                          <a:cs typeface="Arial" pitchFamily="34" charset="-120"/>
                        </a:rPr>
                        <a:t>DOC-SAMPLE-04</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110/1A</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Road RoW Encroachment</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EF4444"/>
                          </a:solidFill>
                          <a:latin typeface="Arial" pitchFamily="34" charset="0"/>
                          <a:ea typeface="Arial" pitchFamily="34" charset="-122"/>
                          <a:cs typeface="Arial" pitchFamily="34" charset="-120"/>
                        </a:rPr>
                        <a:t>Boundary intrudes 4.2m inside 15m road corridor</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b="1" dirty="0">
                          <a:solidFill>
                            <a:srgbClr val="EF4444"/>
                          </a:solidFill>
                          <a:latin typeface="Arial" pitchFamily="34" charset="0"/>
                          <a:ea typeface="Arial" pitchFamily="34" charset="-122"/>
                          <a:cs typeface="Arial" pitchFamily="34" charset="-120"/>
                        </a:rPr>
                        <a:t>MAJOR DISCREPANCY</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r h="533400">
                <a:tc>
                  <a:txBody>
                    <a:bodyPr/>
                    <a:lstStyle/>
                    <a:p>
                      <a:pPr indent="0" marL="0">
                        <a:buNone/>
                      </a:pPr>
                      <a:r>
                        <a:rPr lang="en-US" sz="1050" b="1" dirty="0">
                          <a:solidFill>
                            <a:srgbClr val="F8FAFC"/>
                          </a:solidFill>
                          <a:latin typeface="Arial" pitchFamily="34" charset="0"/>
                          <a:ea typeface="Arial" pitchFamily="34" charset="-122"/>
                          <a:cs typeface="Arial" pitchFamily="34" charset="-120"/>
                        </a:rPr>
                        <a:t>DOC-SAMPLE-05</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112/1</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8FAFC"/>
                          </a:solidFill>
                          <a:latin typeface="Arial" pitchFamily="34" charset="0"/>
                          <a:ea typeface="Arial" pitchFamily="34" charset="-122"/>
                          <a:cs typeface="Arial" pitchFamily="34" charset="-120"/>
                        </a:rPr>
                        <a:t>FMB Boundary Skew</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dirty="0">
                          <a:solidFill>
                            <a:srgbClr val="F59E0B"/>
                          </a:solidFill>
                          <a:latin typeface="Arial" pitchFamily="34" charset="0"/>
                          <a:ea typeface="Arial" pitchFamily="34" charset="-122"/>
                          <a:cs typeface="Arial" pitchFamily="34" charset="-120"/>
                        </a:rPr>
                        <a:t>FMB Ladder triangulation misaligned with Cadastral</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c>
                  <a:txBody>
                    <a:bodyPr/>
                    <a:lstStyle/>
                    <a:p>
                      <a:pPr indent="0" marL="0">
                        <a:buNone/>
                      </a:pPr>
                      <a:r>
                        <a:rPr lang="en-US" sz="1050" b="1" dirty="0">
                          <a:solidFill>
                            <a:srgbClr val="F59E0B"/>
                          </a:solidFill>
                          <a:latin typeface="Arial" pitchFamily="34" charset="0"/>
                          <a:ea typeface="Arial" pitchFamily="34" charset="-122"/>
                          <a:cs typeface="Arial" pitchFamily="34" charset="-120"/>
                        </a:rPr>
                        <a:t>MODERATE / AUDIT REQ.</a:t>
                      </a:r>
                      <a:endParaRPr lang="en-US" sz="1050" dirty="0">
                        <a:latin typeface="Arial" charset="0"/>
                        <a:ea typeface="Arial" charset="0"/>
                        <a:cs typeface="Arial" charset="0"/>
                      </a:endParaRPr>
                    </a:p>
                  </a:txBody>
                  <a:tcPr marL="91440" marR="91440" marT="45720" marB="45720">
                    <a:lnL w="12700" cap="flat" cmpd="sng" algn="ctr">
                      <a:solidFill>
                        <a:srgbClr val="3A506B"/>
                      </a:solidFill>
                      <a:prstDash val="solid"/>
                      <a:round/>
                      <a:headEnd type="none" w="med" len="med"/>
                      <a:tailEnd type="none" w="med" len="med"/>
                    </a:lnL>
                    <a:lnR w="12700" cap="flat" cmpd="sng" algn="ctr">
                      <a:solidFill>
                        <a:srgbClr val="3A506B"/>
                      </a:solidFill>
                      <a:prstDash val="solid"/>
                      <a:round/>
                      <a:headEnd type="none" w="med" len="med"/>
                      <a:tailEnd type="none" w="med" len="med"/>
                    </a:lnR>
                    <a:lnT w="12700" cap="flat" cmpd="sng" algn="ctr">
                      <a:solidFill>
                        <a:srgbClr val="3A506B"/>
                      </a:solidFill>
                      <a:prstDash val="solid"/>
                      <a:round/>
                      <a:headEnd type="none" w="med" len="med"/>
                      <a:tailEnd type="none" w="med" len="med"/>
                    </a:lnT>
                    <a:lnB w="12700" cap="flat" cmpd="sng" algn="ctr">
                      <a:solidFill>
                        <a:srgbClr val="3A506B"/>
                      </a:solidFill>
                      <a:prstDash val="solid"/>
                      <a:round/>
                      <a:headEnd type="none" w="med" len="med"/>
                      <a:tailEnd type="none" w="med" len="med"/>
                    </a:lnB>
                    <a:solidFill>
                      <a:srgbClr val="1C2541"/>
                    </a:solidFill>
                  </a:tcPr>
                </a:tc>
              </a:tr>
            </a:tbl>
          </a:graphicData>
        </a:graphic>
      </p:graphicFrame>
      <p:sp>
        <p:nvSpPr>
          <p:cNvPr id="8" name="Shape 5"/>
          <p:cNvSpPr/>
          <p:nvPr/>
        </p:nvSpPr>
        <p:spPr>
          <a:xfrm>
            <a:off x="731520" y="4754880"/>
            <a:ext cx="10698480" cy="1371600"/>
          </a:xfrm>
          <a:prstGeom prst="rect">
            <a:avLst>
              <a:gd name="adj" fmla="val 5333"/>
            </a:avLst>
          </a:prstGeom>
          <a:solidFill>
            <a:srgbClr val="1C2541"/>
          </a:solidFill>
          <a:ln w="25400">
            <a:solidFill>
              <a:srgbClr val="10B981"/>
            </a:solidFill>
            <a:prstDash val="solid"/>
          </a:ln>
        </p:spPr>
      </p:sp>
      <p:sp>
        <p:nvSpPr>
          <p:cNvPr id="9" name="Text 6"/>
          <p:cNvSpPr/>
          <p:nvPr/>
        </p:nvSpPr>
        <p:spPr>
          <a:xfrm>
            <a:off x="1005840" y="4937760"/>
            <a:ext cx="10058400" cy="36576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100% Automated Pipeline Test Pass (backend/test_pipeline.py)</a:t>
            </a:r>
            <a:endParaRPr lang="en-US" sz="1400" dirty="0"/>
          </a:p>
        </p:txBody>
      </p:sp>
      <p:sp>
        <p:nvSpPr>
          <p:cNvPr id="10" name="Text 7"/>
          <p:cNvSpPr/>
          <p:nvPr/>
        </p:nvSpPr>
        <p:spPr>
          <a:xfrm>
            <a:off x="1005840" y="5349240"/>
            <a:ext cx="10058400" cy="640080"/>
          </a:xfrm>
          <a:prstGeom prst="rect">
            <a:avLst/>
          </a:prstGeom>
          <a:noFill/>
          <a:ln/>
        </p:spPr>
        <p:txBody>
          <a:bodyPr wrap="square" rtlCol="0" anchor="ctr"/>
          <a:lstStyle/>
          <a:p>
            <a:pPr indent="0" marL="0">
              <a:buNone/>
            </a:pPr>
            <a:r>
              <a:rPr lang="en-US" sz="1100" dirty="0">
                <a:solidFill>
                  <a:srgbClr val="F8FAFC"/>
                </a:solidFill>
                <a:latin typeface="Arial" pitchFamily="34" charset="0"/>
                <a:ea typeface="Arial" pitchFamily="34" charset="-122"/>
                <a:cs typeface="Arial" pitchFamily="34" charset="-120"/>
              </a:rPr>
              <a:t>All 5 real-world stress test scenarios are validated automatically on every code push via GitHub Actions CI. The suite executes OCR text parsing, FMB vector coordinate computation, Shapely buffer intersection queries, and risk score thresholds in under 2.5 seconds.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USER EXPERIENCE</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Interactive Enterprise GIS &amp; Frontend Experience</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sp>
        <p:nvSpPr>
          <p:cNvPr id="7" name="Shape 5"/>
          <p:cNvSpPr/>
          <p:nvPr/>
        </p:nvSpPr>
        <p:spPr>
          <a:xfrm>
            <a:off x="731520" y="1371600"/>
            <a:ext cx="3383280" cy="4663440"/>
          </a:xfrm>
          <a:prstGeom prst="rect">
            <a:avLst>
              <a:gd name="adj" fmla="val 2162"/>
            </a:avLst>
          </a:prstGeom>
          <a:solidFill>
            <a:srgbClr val="1C2541"/>
          </a:solidFill>
          <a:ln w="25400">
            <a:solidFill>
              <a:srgbClr val="0EA5E9"/>
            </a:solidFill>
            <a:prstDash val="solid"/>
          </a:ln>
        </p:spPr>
      </p:sp>
      <p:sp>
        <p:nvSpPr>
          <p:cNvPr id="8" name="Text 6"/>
          <p:cNvSpPr/>
          <p:nvPr/>
        </p:nvSpPr>
        <p:spPr>
          <a:xfrm>
            <a:off x="914400" y="1554480"/>
            <a:ext cx="3017520" cy="548640"/>
          </a:xfrm>
          <a:prstGeom prst="rect">
            <a:avLst/>
          </a:prstGeom>
          <a:noFill/>
          <a:ln/>
        </p:spPr>
        <p:txBody>
          <a:bodyPr wrap="square" rtlCol="0" anchor="ctr"/>
          <a:lstStyle/>
          <a:p>
            <a:pPr indent="0" marL="0">
              <a:buNone/>
            </a:pPr>
            <a:r>
              <a:rPr lang="en-US" sz="1600" b="1" dirty="0">
                <a:solidFill>
                  <a:srgbClr val="0EA5E9"/>
                </a:solidFill>
                <a:latin typeface="Arial" pitchFamily="34" charset="0"/>
                <a:ea typeface="Arial" pitchFamily="34" charset="-122"/>
                <a:cs typeface="Arial" pitchFamily="34" charset="-120"/>
              </a:rPr>
              <a:t>Interactive Cadastral GIS Map</a:t>
            </a:r>
            <a:endParaRPr lang="en-US" sz="1600" dirty="0"/>
          </a:p>
        </p:txBody>
      </p:sp>
      <p:sp>
        <p:nvSpPr>
          <p:cNvPr id="9" name="Text 7"/>
          <p:cNvSpPr/>
          <p:nvPr/>
        </p:nvSpPr>
        <p:spPr>
          <a:xfrm>
            <a:off x="914400" y="2194560"/>
            <a:ext cx="3017520" cy="365760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 High-resolution Esri World Imagery satellite basemap.</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Renders 396 parcel boundary polygons dynamically.</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Instant Centroid Fly-To when clicking any parcel in table.</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Multi-layer toggle: Waterbody 30m buffers, Roads, Infrastructure.</a:t>
            </a:r>
            <a:endParaRPr lang="en-US" sz="1200" dirty="0"/>
          </a:p>
        </p:txBody>
      </p:sp>
      <p:sp>
        <p:nvSpPr>
          <p:cNvPr id="10" name="Shape 8"/>
          <p:cNvSpPr/>
          <p:nvPr/>
        </p:nvSpPr>
        <p:spPr>
          <a:xfrm>
            <a:off x="4389120" y="1371600"/>
            <a:ext cx="3383280" cy="4663440"/>
          </a:xfrm>
          <a:prstGeom prst="rect">
            <a:avLst>
              <a:gd name="adj" fmla="val 2162"/>
            </a:avLst>
          </a:prstGeom>
          <a:solidFill>
            <a:srgbClr val="1C2541"/>
          </a:solidFill>
          <a:ln w="25400">
            <a:solidFill>
              <a:srgbClr val="10B981"/>
            </a:solidFill>
            <a:prstDash val="solid"/>
          </a:ln>
        </p:spPr>
      </p:sp>
      <p:sp>
        <p:nvSpPr>
          <p:cNvPr id="11" name="Text 9"/>
          <p:cNvSpPr/>
          <p:nvPr/>
        </p:nvSpPr>
        <p:spPr>
          <a:xfrm>
            <a:off x="4572000" y="1554480"/>
            <a:ext cx="3017520" cy="548640"/>
          </a:xfrm>
          <a:prstGeom prst="rect">
            <a:avLst/>
          </a:prstGeom>
          <a:noFill/>
          <a:ln/>
        </p:spPr>
        <p:txBody>
          <a:bodyPr wrap="square" rtlCol="0" anchor="ctr"/>
          <a:lstStyle/>
          <a:p>
            <a:pPr indent="0" marL="0">
              <a:buNone/>
            </a:pPr>
            <a:r>
              <a:rPr lang="en-US" sz="1600" b="1" dirty="0">
                <a:solidFill>
                  <a:srgbClr val="10B981"/>
                </a:solidFill>
                <a:latin typeface="Arial" pitchFamily="34" charset="0"/>
                <a:ea typeface="Arial" pitchFamily="34" charset="-122"/>
                <a:cs typeface="Arial" pitchFamily="34" charset="-120"/>
              </a:rPr>
              <a:t>Multimodal Document Inspector</a:t>
            </a:r>
            <a:endParaRPr lang="en-US" sz="1600" dirty="0"/>
          </a:p>
        </p:txBody>
      </p:sp>
      <p:sp>
        <p:nvSpPr>
          <p:cNvPr id="12" name="Text 10"/>
          <p:cNvSpPr/>
          <p:nvPr/>
        </p:nvSpPr>
        <p:spPr>
          <a:xfrm>
            <a:off x="4572000" y="2194560"/>
            <a:ext cx="3017520" cy="365760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 Side-by-side view of scanned land deeds alongside extracted OCR entities.</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Field-by-field diff comparison between claimed vs. ground-truth data.</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Highlights discrepancies in red/amber badges directly on the document.</a:t>
            </a:r>
            <a:endParaRPr lang="en-US" sz="1200" dirty="0"/>
          </a:p>
        </p:txBody>
      </p:sp>
      <p:sp>
        <p:nvSpPr>
          <p:cNvPr id="13" name="Shape 11"/>
          <p:cNvSpPr/>
          <p:nvPr/>
        </p:nvSpPr>
        <p:spPr>
          <a:xfrm>
            <a:off x="8046720" y="1371600"/>
            <a:ext cx="3383280" cy="4663440"/>
          </a:xfrm>
          <a:prstGeom prst="rect">
            <a:avLst>
              <a:gd name="adj" fmla="val 2162"/>
            </a:avLst>
          </a:prstGeom>
          <a:solidFill>
            <a:srgbClr val="1C2541"/>
          </a:solidFill>
          <a:ln w="25400">
            <a:solidFill>
              <a:srgbClr val="F59E0B"/>
            </a:solidFill>
            <a:prstDash val="solid"/>
          </a:ln>
        </p:spPr>
      </p:sp>
      <p:sp>
        <p:nvSpPr>
          <p:cNvPr id="14" name="Text 12"/>
          <p:cNvSpPr/>
          <p:nvPr/>
        </p:nvSpPr>
        <p:spPr>
          <a:xfrm>
            <a:off x="8229600" y="1554480"/>
            <a:ext cx="3017520" cy="548640"/>
          </a:xfrm>
          <a:prstGeom prst="rect">
            <a:avLst/>
          </a:prstGeom>
          <a:noFill/>
          <a:ln/>
        </p:spPr>
        <p:txBody>
          <a:bodyPr wrap="square" rtlCol="0" anchor="ctr"/>
          <a:lstStyle/>
          <a:p>
            <a:pPr indent="0" marL="0">
              <a:buNone/>
            </a:pPr>
            <a:r>
              <a:rPr lang="en-US" sz="1600" b="1" dirty="0">
                <a:solidFill>
                  <a:srgbClr val="F59E0B"/>
                </a:solidFill>
                <a:latin typeface="Arial" pitchFamily="34" charset="0"/>
                <a:ea typeface="Arial" pitchFamily="34" charset="-122"/>
                <a:cs typeface="Arial" pitchFamily="34" charset="-120"/>
              </a:rPr>
              <a:t>Due Diligence Certificate</a:t>
            </a:r>
            <a:endParaRPr lang="en-US" sz="1600" dirty="0"/>
          </a:p>
        </p:txBody>
      </p:sp>
      <p:sp>
        <p:nvSpPr>
          <p:cNvPr id="15" name="Text 13"/>
          <p:cNvSpPr/>
          <p:nvPr/>
        </p:nvSpPr>
        <p:spPr>
          <a:xfrm>
            <a:off x="8229600" y="2194560"/>
            <a:ext cx="3017520" cy="365760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 One-click generation of formal Land Audit Certificates.</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Includes surveyor signature block, GIS boundary thumbnail, risk breakdown, and tamper-evident SHA-256 audit hash.</a:t>
            </a:r>
            <a:endParaRPr lang="en-US" sz="1200" dirty="0"/>
          </a:p>
          <a:p>
            <a:pPr indent="0" marL="0">
              <a:buNone/>
            </a:pPr>
            <a:r>
              <a:rPr lang="en-US" sz="1200" dirty="0">
                <a:solidFill>
                  <a:srgbClr val="F8FAFC"/>
                </a:solidFill>
                <a:latin typeface="Arial" pitchFamily="34" charset="0"/>
                <a:ea typeface="Arial" pitchFamily="34" charset="-122"/>
                <a:cs typeface="Arial" pitchFamily="34" charset="-120"/>
              </a:rPr>
              <a:t>• Exportable to PDF and print-ready formats.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CLOUD &amp; DEVOPS</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AWS Cloud Architecture &amp; Automated CI/CD Pipeline</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sp>
        <p:nvSpPr>
          <p:cNvPr id="7" name="Shape 5"/>
          <p:cNvSpPr/>
          <p:nvPr/>
        </p:nvSpPr>
        <p:spPr>
          <a:xfrm>
            <a:off x="731520" y="1371600"/>
            <a:ext cx="5212080" cy="4663440"/>
          </a:xfrm>
          <a:prstGeom prst="rect">
            <a:avLst>
              <a:gd name="adj" fmla="val 1569"/>
            </a:avLst>
          </a:prstGeom>
          <a:solidFill>
            <a:srgbClr val="1C2541"/>
          </a:solidFill>
          <a:ln w="25400">
            <a:solidFill>
              <a:srgbClr val="0EA5E9"/>
            </a:solidFill>
            <a:prstDash val="solid"/>
          </a:ln>
        </p:spPr>
      </p:sp>
      <p:sp>
        <p:nvSpPr>
          <p:cNvPr id="8" name="Text 6"/>
          <p:cNvSpPr/>
          <p:nvPr/>
        </p:nvSpPr>
        <p:spPr>
          <a:xfrm>
            <a:off x="1005840" y="1554480"/>
            <a:ext cx="4663440" cy="457200"/>
          </a:xfrm>
          <a:prstGeom prst="rect">
            <a:avLst/>
          </a:prstGeom>
          <a:noFill/>
          <a:ln/>
        </p:spPr>
        <p:txBody>
          <a:bodyPr wrap="square" rtlCol="0" anchor="ctr"/>
          <a:lstStyle/>
          <a:p>
            <a:pPr indent="0" marL="0">
              <a:buNone/>
            </a:pPr>
            <a:r>
              <a:rPr lang="en-US" sz="1600" b="1" dirty="0">
                <a:solidFill>
                  <a:srgbClr val="0EA5E9"/>
                </a:solidFill>
                <a:latin typeface="Arial" pitchFamily="34" charset="0"/>
                <a:ea typeface="Arial" pitchFamily="34" charset="-122"/>
                <a:cs typeface="Arial" pitchFamily="34" charset="-120"/>
              </a:rPr>
              <a:t>AWS Cloud Architecture (ap-south-1)</a:t>
            </a:r>
            <a:endParaRPr lang="en-US" sz="1600" dirty="0"/>
          </a:p>
        </p:txBody>
      </p:sp>
      <p:sp>
        <p:nvSpPr>
          <p:cNvPr id="9" name="Text 7"/>
          <p:cNvSpPr/>
          <p:nvPr/>
        </p:nvSpPr>
        <p:spPr>
          <a:xfrm>
            <a:off x="1005840" y="2103120"/>
            <a:ext cx="466344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Amazon Textract: </a:t>
            </a:r>
            <a:pPr indent="0" marL="0">
              <a:buNone/>
            </a:pPr>
            <a:r>
              <a:rPr lang="en-US" sz="1150" dirty="0">
                <a:solidFill>
                  <a:srgbClr val="94A3B8"/>
                </a:solidFill>
                <a:latin typeface="Arial" pitchFamily="34" charset="0"/>
                <a:ea typeface="Arial" pitchFamily="34" charset="-122"/>
                <a:cs typeface="Arial" pitchFamily="34" charset="-120"/>
              </a:rPr>
              <a:t>DetectDocumentText API provides high-accuracy OCR for Tamil &amp; English land deeds and tables.
</a:t>
            </a:r>
            <a:pPr indent="0" marL="0">
              <a:buNone/>
            </a:pPr>
            <a:r>
              <a:rPr lang="en-US" sz="1150" b="1" dirty="0">
                <a:solidFill>
                  <a:srgbClr val="F8FAFC"/>
                </a:solidFill>
                <a:latin typeface="Arial" pitchFamily="34" charset="0"/>
                <a:ea typeface="Arial" pitchFamily="34" charset="-122"/>
                <a:cs typeface="Arial" pitchFamily="34" charset="-120"/>
              </a:rPr>
              <a:t>• Amazon S3 (fai-tce-team63-farmai): </a:t>
            </a:r>
            <a:pPr indent="0" marL="0">
              <a:buNone/>
            </a:pPr>
            <a:r>
              <a:rPr lang="en-US" sz="1150" dirty="0">
                <a:solidFill>
                  <a:srgbClr val="94A3B8"/>
                </a:solidFill>
                <a:latin typeface="Arial" pitchFamily="34" charset="0"/>
                <a:ea typeface="Arial" pitchFamily="34" charset="-122"/>
                <a:cs typeface="Arial" pitchFamily="34" charset="-120"/>
              </a:rPr>
              <a:t>Encrypted cloud bucket storing ingested land deed PDFs, FMB sketches, and buffering multi-page documents.
</a:t>
            </a:r>
            <a:pPr indent="0" marL="0">
              <a:buNone/>
            </a:pPr>
            <a:r>
              <a:rPr lang="en-US" sz="1150" b="1" dirty="0">
                <a:solidFill>
                  <a:srgbClr val="F8FAFC"/>
                </a:solidFill>
                <a:latin typeface="Arial" pitchFamily="34" charset="0"/>
                <a:ea typeface="Arial" pitchFamily="34" charset="-122"/>
                <a:cs typeface="Arial" pitchFamily="34" charset="-120"/>
              </a:rPr>
              <a:t>• Amazon DynamoDB: </a:t>
            </a:r>
            <a:pPr indent="0" marL="0">
              <a:buNone/>
            </a:pPr>
            <a:r>
              <a:rPr lang="en-US" sz="1150" dirty="0">
                <a:solidFill>
                  <a:srgbClr val="94A3B8"/>
                </a:solidFill>
                <a:latin typeface="Arial" pitchFamily="34" charset="0"/>
                <a:ea typeface="Arial" pitchFamily="34" charset="-122"/>
                <a:cs typeface="Arial" pitchFamily="34" charset="-120"/>
              </a:rPr>
              <a:t>High-throughput NoSQL table (fai-tce-team63-audit-records) logging immutable audit scores, survey numbers, and verdicts.
</a:t>
            </a:r>
            <a:pPr indent="0" marL="0">
              <a:buNone/>
            </a:pPr>
            <a:r>
              <a:rPr lang="en-US" sz="1150" b="1" dirty="0">
                <a:solidFill>
                  <a:srgbClr val="F8FAFC"/>
                </a:solidFill>
                <a:latin typeface="Arial" pitchFamily="34" charset="0"/>
                <a:ea typeface="Arial" pitchFamily="34" charset="-122"/>
                <a:cs typeface="Arial" pitchFamily="34" charset="-120"/>
              </a:rPr>
              <a:t>• Docker Deployment: </a:t>
            </a:r>
            <a:pPr indent="0" marL="0">
              <a:buNone/>
            </a:pPr>
            <a:r>
              <a:rPr lang="en-US" sz="1150" dirty="0">
                <a:solidFill>
                  <a:srgbClr val="94A3B8"/>
                </a:solidFill>
                <a:latin typeface="Arial" pitchFamily="34" charset="0"/>
                <a:ea typeface="Arial" pitchFamily="34" charset="-122"/>
                <a:cs typeface="Arial" pitchFamily="34" charset="-120"/>
              </a:rPr>
              <a:t>Multi-container setup with backend FastAPI (port 8000) and Nginx frontend (port 80).</a:t>
            </a:r>
            <a:endParaRPr lang="en-US" sz="1150" dirty="0"/>
          </a:p>
        </p:txBody>
      </p:sp>
      <p:sp>
        <p:nvSpPr>
          <p:cNvPr id="10" name="Shape 8"/>
          <p:cNvSpPr/>
          <p:nvPr/>
        </p:nvSpPr>
        <p:spPr>
          <a:xfrm>
            <a:off x="6217920" y="1371600"/>
            <a:ext cx="5212080" cy="4663440"/>
          </a:xfrm>
          <a:prstGeom prst="rect">
            <a:avLst>
              <a:gd name="adj" fmla="val 1569"/>
            </a:avLst>
          </a:prstGeom>
          <a:solidFill>
            <a:srgbClr val="1C2541"/>
          </a:solidFill>
          <a:ln w="25400">
            <a:solidFill>
              <a:srgbClr val="10B981"/>
            </a:solidFill>
            <a:prstDash val="solid"/>
          </a:ln>
        </p:spPr>
      </p:sp>
      <p:sp>
        <p:nvSpPr>
          <p:cNvPr id="11" name="Text 9"/>
          <p:cNvSpPr/>
          <p:nvPr/>
        </p:nvSpPr>
        <p:spPr>
          <a:xfrm>
            <a:off x="6492240" y="1554480"/>
            <a:ext cx="4663440" cy="457200"/>
          </a:xfrm>
          <a:prstGeom prst="rect">
            <a:avLst/>
          </a:prstGeom>
          <a:noFill/>
          <a:ln/>
        </p:spPr>
        <p:txBody>
          <a:bodyPr wrap="square" rtlCol="0" anchor="ctr"/>
          <a:lstStyle/>
          <a:p>
            <a:pPr indent="0" marL="0">
              <a:buNone/>
            </a:pPr>
            <a:r>
              <a:rPr lang="en-US" sz="1600" b="1" dirty="0">
                <a:solidFill>
                  <a:srgbClr val="10B981"/>
                </a:solidFill>
                <a:latin typeface="Arial" pitchFamily="34" charset="0"/>
                <a:ea typeface="Arial" pitchFamily="34" charset="-122"/>
                <a:cs typeface="Arial" pitchFamily="34" charset="-120"/>
              </a:rPr>
              <a:t>Automated GitHub Actions CI/CD</a:t>
            </a:r>
            <a:endParaRPr lang="en-US" sz="1600" dirty="0"/>
          </a:p>
        </p:txBody>
      </p:sp>
      <p:sp>
        <p:nvSpPr>
          <p:cNvPr id="12" name="Text 10"/>
          <p:cNvSpPr/>
          <p:nvPr/>
        </p:nvSpPr>
        <p:spPr>
          <a:xfrm>
            <a:off x="6492240" y="2103120"/>
            <a:ext cx="466344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Continuous Integration Workflow: </a:t>
            </a:r>
            <a:pPr indent="0" marL="0">
              <a:buNone/>
            </a:pPr>
            <a:r>
              <a:rPr lang="en-US" sz="1150" dirty="0">
                <a:solidFill>
                  <a:srgbClr val="94A3B8"/>
                </a:solidFill>
                <a:latin typeface="Arial" pitchFamily="34" charset="0"/>
                <a:ea typeface="Arial" pitchFamily="34" charset="-122"/>
                <a:cs typeface="Arial" pitchFamily="34" charset="-120"/>
              </a:rPr>
              <a:t>Triggered on every push to main via .github/workflows/ci.yml.
</a:t>
            </a:r>
            <a:pPr indent="0" marL="0">
              <a:buNone/>
            </a:pPr>
            <a:r>
              <a:rPr lang="en-US" sz="1150" b="1" dirty="0">
                <a:solidFill>
                  <a:srgbClr val="F8FAFC"/>
                </a:solidFill>
                <a:latin typeface="Arial" pitchFamily="34" charset="0"/>
                <a:ea typeface="Arial" pitchFamily="34" charset="-122"/>
                <a:cs typeface="Arial" pitchFamily="34" charset="-120"/>
              </a:rPr>
              <a:t>• Parallel Execution Runners: </a:t>
            </a:r>
            <a:pPr indent="0" marL="0">
              <a:buNone/>
            </a:pPr>
            <a:r>
              <a:rPr lang="en-US" sz="1150" dirty="0">
                <a:solidFill>
                  <a:srgbClr val="94A3B8"/>
                </a:solidFill>
                <a:latin typeface="Arial" pitchFamily="34" charset="0"/>
                <a:ea typeface="Arial" pitchFamily="34" charset="-122"/>
                <a:cs typeface="Arial" pitchFamily="34" charset="-120"/>
              </a:rPr>
              <a:t>1. Backend Job (Ubuntu + Python 3.11): Dependency caching, pip install, and automated test_pipeline.py execution.
2. Frontend Job (Ubuntu + Node.js 20): npm ci and production Vite build verification.
</a:t>
            </a:r>
            <a:pPr indent="0" marL="0">
              <a:buNone/>
            </a:pPr>
            <a:r>
              <a:rPr lang="en-US" sz="1150" b="1" dirty="0">
                <a:solidFill>
                  <a:srgbClr val="F8FAFC"/>
                </a:solidFill>
                <a:latin typeface="Arial" pitchFamily="34" charset="0"/>
                <a:ea typeface="Arial" pitchFamily="34" charset="-122"/>
                <a:cs typeface="Arial" pitchFamily="34" charset="-120"/>
              </a:rPr>
              <a:t>• Zero Credential Exposure: </a:t>
            </a:r>
            <a:pPr indent="0" marL="0">
              <a:buNone/>
            </a:pPr>
            <a:r>
              <a:rPr lang="en-US" sz="1150" dirty="0">
                <a:solidFill>
                  <a:srgbClr val="94A3B8"/>
                </a:solidFill>
                <a:latin typeface="Arial" pitchFamily="34" charset="0"/>
                <a:ea typeface="Arial" pitchFamily="34" charset="-122"/>
                <a:cs typeface="Arial" pitchFamily="34" charset="-120"/>
              </a:rPr>
              <a:t>AWS secrets securely injected via GitHub Encrypted Secrets with automatic log masking (***).
</a:t>
            </a:r>
            <a:pPr indent="0" marL="0">
              <a:buNone/>
            </a:pPr>
            <a:r>
              <a:rPr lang="en-US" sz="1150" b="1" dirty="0">
                <a:solidFill>
                  <a:srgbClr val="10B981"/>
                </a:solidFill>
                <a:latin typeface="Arial" pitchFamily="34" charset="0"/>
                <a:ea typeface="Arial" pitchFamily="34" charset="-122"/>
                <a:cs typeface="Arial" pitchFamily="34" charset="-120"/>
              </a:rPr>
              <a:t>• Build Health: </a:t>
            </a:r>
            <a:pPr indent="0" marL="0">
              <a:buNone/>
            </a:pPr>
            <a:r>
              <a:rPr lang="en-US" sz="1150" dirty="0">
                <a:solidFill>
                  <a:srgbClr val="F8FAFC"/>
                </a:solidFill>
                <a:latin typeface="Arial" pitchFamily="34" charset="0"/>
                <a:ea typeface="Arial" pitchFamily="34" charset="-122"/>
                <a:cs typeface="Arial" pitchFamily="34" charset="-120"/>
              </a:rPr>
              <a:t>Verified 100% green build status.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0EA5E9"/>
                </a:solidFill>
                <a:latin typeface="Arial" pitchFamily="34" charset="0"/>
                <a:ea typeface="Arial" pitchFamily="34" charset="-122"/>
                <a:cs typeface="Arial" pitchFamily="34" charset="-120"/>
              </a:rPr>
              <a:t>BUSINESS VALUE &amp; VISION</a:t>
            </a:r>
            <a:endParaRPr lang="en-US" sz="1000" dirty="0"/>
          </a:p>
        </p:txBody>
      </p:sp>
      <p:sp>
        <p:nvSpPr>
          <p:cNvPr id="3" name="Text 1"/>
          <p:cNvSpPr/>
          <p:nvPr/>
        </p:nvSpPr>
        <p:spPr>
          <a:xfrm>
            <a:off x="731520" y="594360"/>
            <a:ext cx="10515600" cy="54864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Business Impact &amp; Technological Roadmap</a:t>
            </a:r>
            <a:endParaRPr lang="en-US" sz="2200" dirty="0"/>
          </a:p>
        </p:txBody>
      </p:sp>
      <p:sp>
        <p:nvSpPr>
          <p:cNvPr id="4" name="Shape 2"/>
          <p:cNvSpPr/>
          <p:nvPr/>
        </p:nvSpPr>
        <p:spPr>
          <a:xfrm>
            <a:off x="731520" y="6400800"/>
            <a:ext cx="10698480" cy="0"/>
          </a:xfrm>
          <a:prstGeom prst="line">
            <a:avLst/>
          </a:prstGeom>
          <a:noFill/>
          <a:ln w="12700">
            <a:solidFill>
              <a:srgbClr val="3A506B"/>
            </a:solidFill>
            <a:prstDash val="solid"/>
          </a:ln>
        </p:spPr>
      </p:sp>
      <p:sp>
        <p:nvSpPr>
          <p:cNvPr id="5" name="Text 3"/>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FarmAI Platform • Autonomous Due Diligence &amp; Cadastral Reconciliation</a:t>
            </a:r>
            <a:endParaRPr lang="en-US" sz="900" dirty="0"/>
          </a:p>
        </p:txBody>
      </p:sp>
      <p:sp>
        <p:nvSpPr>
          <p:cNvPr id="6" name="Text 4"/>
          <p:cNvSpPr/>
          <p:nvPr/>
        </p:nvSpPr>
        <p:spPr>
          <a:xfrm>
            <a:off x="8686800" y="6446520"/>
            <a:ext cx="27432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CONFIDENTIAL • TEAM 63</a:t>
            </a:r>
            <a:endParaRPr lang="en-US" sz="900" dirty="0"/>
          </a:p>
        </p:txBody>
      </p:sp>
      <p:sp>
        <p:nvSpPr>
          <p:cNvPr id="7" name="Shape 5"/>
          <p:cNvSpPr/>
          <p:nvPr/>
        </p:nvSpPr>
        <p:spPr>
          <a:xfrm>
            <a:off x="731520" y="1371600"/>
            <a:ext cx="5212080" cy="4663440"/>
          </a:xfrm>
          <a:prstGeom prst="rect">
            <a:avLst>
              <a:gd name="adj" fmla="val 1569"/>
            </a:avLst>
          </a:prstGeom>
          <a:solidFill>
            <a:srgbClr val="1C2541"/>
          </a:solidFill>
          <a:ln w="25400">
            <a:solidFill>
              <a:srgbClr val="10B981"/>
            </a:solidFill>
            <a:prstDash val="solid"/>
          </a:ln>
        </p:spPr>
      </p:sp>
      <p:sp>
        <p:nvSpPr>
          <p:cNvPr id="8" name="Text 6"/>
          <p:cNvSpPr/>
          <p:nvPr/>
        </p:nvSpPr>
        <p:spPr>
          <a:xfrm>
            <a:off x="1005840" y="1554480"/>
            <a:ext cx="4663440" cy="457200"/>
          </a:xfrm>
          <a:prstGeom prst="rect">
            <a:avLst/>
          </a:prstGeom>
          <a:noFill/>
          <a:ln/>
        </p:spPr>
        <p:txBody>
          <a:bodyPr wrap="square" rtlCol="0" anchor="ctr"/>
          <a:lstStyle/>
          <a:p>
            <a:pPr indent="0" marL="0">
              <a:buNone/>
            </a:pPr>
            <a:r>
              <a:rPr lang="en-US" sz="1600" b="1" dirty="0">
                <a:solidFill>
                  <a:srgbClr val="10B981"/>
                </a:solidFill>
                <a:latin typeface="Arial" pitchFamily="34" charset="0"/>
                <a:ea typeface="Arial" pitchFamily="34" charset="-122"/>
                <a:cs typeface="Arial" pitchFamily="34" charset="-120"/>
              </a:rPr>
              <a:t>Measurable Business Impact</a:t>
            </a:r>
            <a:endParaRPr lang="en-US" sz="1600" dirty="0"/>
          </a:p>
        </p:txBody>
      </p:sp>
      <p:sp>
        <p:nvSpPr>
          <p:cNvPr id="9" name="Text 7"/>
          <p:cNvSpPr/>
          <p:nvPr/>
        </p:nvSpPr>
        <p:spPr>
          <a:xfrm>
            <a:off x="1005840" y="2103120"/>
            <a:ext cx="4663440" cy="3749040"/>
          </a:xfrm>
          <a:prstGeom prst="rect">
            <a:avLst/>
          </a:prstGeom>
          <a:noFill/>
          <a:ln/>
        </p:spPr>
        <p:txBody>
          <a:bodyPr wrap="square" rtlCol="0" anchor="ctr"/>
          <a:lstStyle/>
          <a:p>
            <a:pPr indent="0" marL="0">
              <a:buNone/>
            </a:pPr>
            <a:r>
              <a:rPr lang="en-US" sz="1150" dirty="0">
                <a:solidFill>
                  <a:srgbClr val="F8FAFC"/>
                </a:solidFill>
                <a:latin typeface="Arial" pitchFamily="34" charset="0"/>
                <a:ea typeface="Arial" pitchFamily="34" charset="-122"/>
                <a:cs typeface="Arial" pitchFamily="34" charset="-120"/>
              </a:rPr>
              <a:t>• 99% Faster Due Diligence</a:t>
            </a: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Reduces parcel cross-checking from 3-5 days to under 2 seconds per document.</a:t>
            </a:r>
            <a:endParaRPr lang="en-US" sz="1150" dirty="0"/>
          </a:p>
          <a:p>
            <a:pPr indent="0" marL="0">
              <a:buNone/>
            </a:pP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Zero Manual Math Errors</a:t>
            </a: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Automates complex G-line ladder triangulation and Hectares-to-Acres unit conversions.</a:t>
            </a:r>
            <a:endParaRPr lang="en-US" sz="1150" dirty="0"/>
          </a:p>
          <a:p>
            <a:pPr indent="0" marL="0">
              <a:buNone/>
            </a:pP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NPL &amp; Legal Risk Prevention</a:t>
            </a: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Catches 30m waterbody buffer violations and area inflation before capital commitment.</a:t>
            </a:r>
            <a:endParaRPr lang="en-US" sz="1150" dirty="0"/>
          </a:p>
          <a:p>
            <a:pPr indent="0" marL="0">
              <a:buNone/>
            </a:pP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Institutional Audit Readiness</a:t>
            </a: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Generates tamper-evident digital certificates ready for banks, REITS, and government registrars.</a:t>
            </a:r>
            <a:endParaRPr lang="en-US" sz="1150" dirty="0"/>
          </a:p>
        </p:txBody>
      </p:sp>
      <p:sp>
        <p:nvSpPr>
          <p:cNvPr id="10" name="Shape 8"/>
          <p:cNvSpPr/>
          <p:nvPr/>
        </p:nvSpPr>
        <p:spPr>
          <a:xfrm>
            <a:off x="6217920" y="1371600"/>
            <a:ext cx="5212080" cy="4663440"/>
          </a:xfrm>
          <a:prstGeom prst="rect">
            <a:avLst>
              <a:gd name="adj" fmla="val 1569"/>
            </a:avLst>
          </a:prstGeom>
          <a:solidFill>
            <a:srgbClr val="1C2541"/>
          </a:solidFill>
          <a:ln w="25400">
            <a:solidFill>
              <a:srgbClr val="0EA5E9"/>
            </a:solidFill>
            <a:prstDash val="solid"/>
          </a:ln>
        </p:spPr>
      </p:sp>
      <p:sp>
        <p:nvSpPr>
          <p:cNvPr id="11" name="Text 9"/>
          <p:cNvSpPr/>
          <p:nvPr/>
        </p:nvSpPr>
        <p:spPr>
          <a:xfrm>
            <a:off x="6492240" y="1554480"/>
            <a:ext cx="4663440" cy="457200"/>
          </a:xfrm>
          <a:prstGeom prst="rect">
            <a:avLst/>
          </a:prstGeom>
          <a:noFill/>
          <a:ln/>
        </p:spPr>
        <p:txBody>
          <a:bodyPr wrap="square" rtlCol="0" anchor="ctr"/>
          <a:lstStyle/>
          <a:p>
            <a:pPr indent="0" marL="0">
              <a:buNone/>
            </a:pPr>
            <a:r>
              <a:rPr lang="en-US" sz="1600" b="1" dirty="0">
                <a:solidFill>
                  <a:srgbClr val="0EA5E9"/>
                </a:solidFill>
                <a:latin typeface="Arial" pitchFamily="34" charset="0"/>
                <a:ea typeface="Arial" pitchFamily="34" charset="-122"/>
                <a:cs typeface="Arial" pitchFamily="34" charset="-120"/>
              </a:rPr>
              <a:t>Technological Roadmap</a:t>
            </a:r>
            <a:endParaRPr lang="en-US" sz="1600" dirty="0"/>
          </a:p>
        </p:txBody>
      </p:sp>
      <p:sp>
        <p:nvSpPr>
          <p:cNvPr id="12" name="Text 10"/>
          <p:cNvSpPr/>
          <p:nvPr/>
        </p:nvSpPr>
        <p:spPr>
          <a:xfrm>
            <a:off x="6492240" y="2103120"/>
            <a:ext cx="4663440" cy="3749040"/>
          </a:xfrm>
          <a:prstGeom prst="rect">
            <a:avLst/>
          </a:prstGeom>
          <a:noFill/>
          <a:ln/>
        </p:spPr>
        <p:txBody>
          <a:bodyPr wrap="square" rtlCol="0" anchor="ctr"/>
          <a:lstStyle/>
          <a:p>
            <a:pPr indent="0" marL="0">
              <a:buNone/>
            </a:pPr>
            <a:r>
              <a:rPr lang="en-US" sz="1150" dirty="0">
                <a:solidFill>
                  <a:srgbClr val="F8FAFC"/>
                </a:solidFill>
                <a:latin typeface="Arial" pitchFamily="34" charset="0"/>
                <a:ea typeface="Arial" pitchFamily="34" charset="-122"/>
                <a:cs typeface="Arial" pitchFamily="34" charset="-120"/>
              </a:rPr>
              <a:t>• Phase 1: Satellite Change Detection</a:t>
            </a: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Integrate Sentinel-2 &amp; Planet Labs optical imagery to detect temporal tree canopy &amp; encroachment changes.</a:t>
            </a:r>
            <a:endParaRPr lang="en-US" sz="1150" dirty="0"/>
          </a:p>
          <a:p>
            <a:pPr indent="0" marL="0">
              <a:buNone/>
            </a:pP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Phase 2: Fine-Tuned Tamil Vision Model</a:t>
            </a: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Train a domain-specific Donut / LayoutLMv3 vision transformer on historical Tamil revenue manuscripts.</a:t>
            </a:r>
            <a:endParaRPr lang="en-US" sz="1150" dirty="0"/>
          </a:p>
          <a:p>
            <a:pPr indent="0" marL="0">
              <a:buNone/>
            </a:pP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Phase 3: Drone LiDAR Elevation Mesh</a:t>
            </a: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Incorporate centimeter-precision UAV photogrammetry for flood runoff and terrain slope modeling.</a:t>
            </a:r>
            <a:endParaRPr lang="en-US" sz="1150" dirty="0"/>
          </a:p>
          <a:p>
            <a:pPr indent="0" marL="0">
              <a:buNone/>
            </a:pP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Phase 4: Blockchain Title Hashing</a:t>
            </a:r>
            <a:endParaRPr lang="en-US" sz="1150" dirty="0"/>
          </a:p>
          <a:p>
            <a:pPr indent="0" marL="0">
              <a:buNone/>
            </a:pPr>
            <a:r>
              <a:rPr lang="en-US" sz="1150" dirty="0">
                <a:solidFill>
                  <a:srgbClr val="F8FAFC"/>
                </a:solidFill>
                <a:latin typeface="Arial" pitchFamily="34" charset="0"/>
                <a:ea typeface="Arial" pitchFamily="34" charset="-122"/>
                <a:cs typeface="Arial" pitchFamily="34" charset="-120"/>
              </a:rPr>
              <a:t>   Anchor audit certificates onto Polygon / Hyperledger to prevent retroactive deed tampering.</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1371600" y="1097280"/>
            <a:ext cx="9418320" cy="4389120"/>
          </a:xfrm>
          <a:prstGeom prst="rect">
            <a:avLst>
              <a:gd name="adj" fmla="val 2083"/>
            </a:avLst>
          </a:prstGeom>
          <a:solidFill>
            <a:srgbClr val="1C2541"/>
          </a:solidFill>
          <a:ln w="25400">
            <a:solidFill>
              <a:srgbClr val="10B981"/>
            </a:solidFill>
            <a:prstDash val="solid"/>
          </a:ln>
        </p:spPr>
      </p:sp>
      <p:sp>
        <p:nvSpPr>
          <p:cNvPr id="3" name="Text 1"/>
          <p:cNvSpPr/>
          <p:nvPr/>
        </p:nvSpPr>
        <p:spPr>
          <a:xfrm>
            <a:off x="1828800" y="1463040"/>
            <a:ext cx="8503920" cy="548640"/>
          </a:xfrm>
          <a:prstGeom prst="rect">
            <a:avLst/>
          </a:prstGeom>
          <a:noFill/>
          <a:ln/>
        </p:spPr>
        <p:txBody>
          <a:bodyPr wrap="square" rtlCol="0" anchor="ctr"/>
          <a:lstStyle/>
          <a:p>
            <a:pPr algn="ctr" indent="0" marL="0">
              <a:buNone/>
            </a:pPr>
            <a:r>
              <a:rPr lang="en-US" sz="2800" b="1" dirty="0">
                <a:solidFill>
                  <a:srgbClr val="F8FAFC"/>
                </a:solidFill>
                <a:latin typeface="Arial" pitchFamily="34" charset="0"/>
                <a:ea typeface="Arial" pitchFamily="34" charset="-122"/>
                <a:cs typeface="Arial" pitchFamily="34" charset="-120"/>
              </a:rPr>
              <a:t>FarmAI – GeoLand Intelligence</a:t>
            </a:r>
            <a:endParaRPr lang="en-US" sz="2800" dirty="0"/>
          </a:p>
        </p:txBody>
      </p:sp>
      <p:sp>
        <p:nvSpPr>
          <p:cNvPr id="4" name="Text 2"/>
          <p:cNvSpPr/>
          <p:nvPr/>
        </p:nvSpPr>
        <p:spPr>
          <a:xfrm>
            <a:off x="1828800" y="2103120"/>
            <a:ext cx="8503920" cy="365760"/>
          </a:xfrm>
          <a:prstGeom prst="rect">
            <a:avLst/>
          </a:prstGeom>
          <a:noFill/>
          <a:ln/>
        </p:spPr>
        <p:txBody>
          <a:bodyPr wrap="square" rtlCol="0" anchor="ctr"/>
          <a:lstStyle/>
          <a:p>
            <a:pPr algn="ctr" indent="0" marL="0">
              <a:buNone/>
            </a:pPr>
            <a:r>
              <a:rPr lang="en-US" sz="1400" b="1" dirty="0">
                <a:solidFill>
                  <a:srgbClr val="0EA5E9"/>
                </a:solidFill>
                <a:latin typeface="Arial" pitchFamily="34" charset="0"/>
                <a:ea typeface="Arial" pitchFamily="34" charset="-122"/>
                <a:cs typeface="Arial" pitchFamily="34" charset="-120"/>
              </a:rPr>
              <a:t>Autonomous Multimodal GeoAI &amp; Land Document Due Diligence Platform</a:t>
            </a:r>
            <a:endParaRPr lang="en-US" sz="1400" dirty="0"/>
          </a:p>
        </p:txBody>
      </p:sp>
      <p:sp>
        <p:nvSpPr>
          <p:cNvPr id="5" name="Text 3"/>
          <p:cNvSpPr/>
          <p:nvPr/>
        </p:nvSpPr>
        <p:spPr>
          <a:xfrm>
            <a:off x="2011680" y="2651760"/>
            <a:ext cx="8138160" cy="164592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Key Takeaways:
</a:t>
            </a:r>
            <a:pPr indent="0" marL="0">
              <a:buNone/>
            </a:pPr>
            <a:r>
              <a:rPr lang="en-US" sz="1200" dirty="0">
                <a:solidFill>
                  <a:srgbClr val="F8FAFC"/>
                </a:solidFill>
                <a:latin typeface="Arial" pitchFamily="34" charset="0"/>
                <a:ea typeface="Arial" pitchFamily="34" charset="-122"/>
                <a:cs typeface="Arial" pitchFamily="34" charset="-120"/>
              </a:rPr>
              <a:t>- Solved the multimodal challenge: Unstructured Tamil/English deeds + FMB ladders + Cadastral GIS.
</a:t>
            </a:r>
            <a:pPr indent="0" marL="0">
              <a:buNone/>
            </a:pPr>
            <a:r>
              <a:rPr lang="en-US" sz="1200" dirty="0">
                <a:solidFill>
                  <a:srgbClr val="F8FAFC"/>
                </a:solidFill>
                <a:latin typeface="Arial" pitchFamily="34" charset="0"/>
                <a:ea typeface="Arial" pitchFamily="34" charset="-122"/>
                <a:cs typeface="Arial" pitchFamily="34" charset="-120"/>
              </a:rPr>
              <a:t>- 100% automated mathematical due diligence with 6 specialized GeoAI engines.
</a:t>
            </a:r>
            <a:pPr indent="0" marL="0">
              <a:buNone/>
            </a:pPr>
            <a:r>
              <a:rPr lang="en-US" sz="1200" dirty="0">
                <a:solidFill>
                  <a:srgbClr val="F8FAFC"/>
                </a:solidFill>
                <a:latin typeface="Arial" pitchFamily="34" charset="0"/>
                <a:ea typeface="Arial" pitchFamily="34" charset="-122"/>
                <a:cs typeface="Arial" pitchFamily="34" charset="-120"/>
              </a:rPr>
              <a:t>- Enterprise-grade cloud architecture with AWS Textract, S3, DynamoDB &amp; GitHub Actions CI.
</a:t>
            </a:r>
            <a:pPr indent="0" marL="0">
              <a:buNone/>
            </a:pPr>
            <a:r>
              <a:rPr lang="en-US" sz="1200" dirty="0">
                <a:solidFill>
                  <a:srgbClr val="F8FAFC"/>
                </a:solidFill>
                <a:latin typeface="Arial" pitchFamily="34" charset="0"/>
                <a:ea typeface="Arial" pitchFamily="34" charset="-122"/>
                <a:cs typeface="Arial" pitchFamily="34" charset="-120"/>
              </a:rPr>
              <a:t>- Production-ready interactive GIS dashboard built with React 18 and Leaflet.
</a:t>
            </a:r>
            <a:endParaRPr lang="en-US" sz="1200" dirty="0"/>
          </a:p>
        </p:txBody>
      </p:sp>
      <p:sp>
        <p:nvSpPr>
          <p:cNvPr id="6" name="Text 4"/>
          <p:cNvSpPr/>
          <p:nvPr/>
        </p:nvSpPr>
        <p:spPr>
          <a:xfrm>
            <a:off x="1828800" y="4480560"/>
            <a:ext cx="8503920" cy="548640"/>
          </a:xfrm>
          <a:prstGeom prst="rect">
            <a:avLst/>
          </a:prstGeom>
          <a:noFill/>
          <a:ln/>
        </p:spPr>
        <p:txBody>
          <a:bodyPr wrap="square" rtlCol="0" anchor="ctr"/>
          <a:lstStyle/>
          <a:p>
            <a:pPr algn="ctr" indent="0" marL="0">
              <a:buNone/>
            </a:pPr>
            <a:r>
              <a:rPr lang="en-US" sz="2000" b="1" dirty="0">
                <a:solidFill>
                  <a:srgbClr val="F59E0B"/>
                </a:solidFill>
                <a:latin typeface="Arial" pitchFamily="34" charset="0"/>
                <a:ea typeface="Arial" pitchFamily="34" charset="-122"/>
                <a:cs typeface="Arial" pitchFamily="34" charset="-120"/>
              </a:rPr>
              <a:t>Thank You! Questions &amp; Discussion</a:t>
            </a:r>
            <a:endParaRPr lang="en-US" sz="2000" dirty="0"/>
          </a:p>
        </p:txBody>
      </p:sp>
      <p:sp>
        <p:nvSpPr>
          <p:cNvPr id="7" name="Text 5"/>
          <p:cNvSpPr/>
          <p:nvPr/>
        </p:nvSpPr>
        <p:spPr>
          <a:xfrm>
            <a:off x="1828800" y="4937760"/>
            <a:ext cx="8503920" cy="36576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GitHub Repository: https://github.com/krishnakanthm2805/farmai_project.git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FarmAI GeoLand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FarmAI - Multimodal GeoAI &amp; Land Document Intelligence Platform</dc:title>
  <dc:subject>PptxGenJS Presentation</dc:subject>
  <dc:creator>FarmAI Research &amp; Engineering Team</dc:creator>
  <cp:lastModifiedBy>FarmAI Research &amp; Engineering Team</cp:lastModifiedBy>
  <cp:revision>1</cp:revision>
  <dcterms:created xsi:type="dcterms:W3CDTF">2026-10-19T11:15:59Z</dcterms:created>
  <dcterms:modified xsi:type="dcterms:W3CDTF">2026-10-19T11:15:59Z</dcterms:modified>
</cp:coreProperties>
</file>